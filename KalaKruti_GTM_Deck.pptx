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  <p:sldId id="276" r:id="rId19"/>
    <p:sldId id="272" r:id="rId20"/>
    <p:sldId id="273" r:id="rId2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80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0F0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686800" y="4860035"/>
            <a:ext cx="119380" cy="119380"/>
          </a:xfrm>
          <a:custGeom>
            <a:avLst/>
            <a:gdLst/>
            <a:ahLst/>
            <a:cxnLst/>
            <a:rect l="l" t="t" r="r" b="b"/>
            <a:pathLst>
              <a:path w="119379" h="119379">
                <a:moveTo>
                  <a:pt x="118872" y="0"/>
                </a:moveTo>
                <a:lnTo>
                  <a:pt x="0" y="0"/>
                </a:lnTo>
                <a:lnTo>
                  <a:pt x="0" y="118871"/>
                </a:lnTo>
                <a:lnTo>
                  <a:pt x="118872" y="118871"/>
                </a:lnTo>
                <a:lnTo>
                  <a:pt x="118872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13175" y="1589023"/>
            <a:ext cx="2517648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049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049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049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0F0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686800" y="4860035"/>
            <a:ext cx="119380" cy="119380"/>
          </a:xfrm>
          <a:custGeom>
            <a:avLst/>
            <a:gdLst/>
            <a:ahLst/>
            <a:cxnLst/>
            <a:rect l="l" t="t" r="r" b="b"/>
            <a:pathLst>
              <a:path w="119379" h="119379">
                <a:moveTo>
                  <a:pt x="118872" y="0"/>
                </a:moveTo>
                <a:lnTo>
                  <a:pt x="0" y="0"/>
                </a:lnTo>
                <a:lnTo>
                  <a:pt x="0" y="118871"/>
                </a:lnTo>
                <a:lnTo>
                  <a:pt x="118872" y="118871"/>
                </a:lnTo>
                <a:lnTo>
                  <a:pt x="118872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049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0F0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1640" y="196341"/>
            <a:ext cx="542607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049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5234" y="1051623"/>
            <a:ext cx="4067810" cy="2588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 spd="slow">
    <p:wipe/>
  </p:transition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inbeat.agency/blog/customer-acquisition-statistics" TargetMode="External"/><Relationship Id="rId2" Type="http://schemas.openxmlformats.org/officeDocument/2006/relationships/hyperlink" Target="https://blog.hubspot.com/marketing/marketing-budget-percentag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hyperlink" Target="https://blog.revpartners.io/en/revops-articles/revenue-growth-marketing-how-impact-profitability" TargetMode="External"/><Relationship Id="rId4" Type="http://schemas.openxmlformats.org/officeDocument/2006/relationships/hyperlink" Target="https://www.180ops.com/blog/how-marketing-drives-revenue-strategic-overview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051E4-5851-E028-56FC-2BB5E70F4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9844DE9-9F19-FA32-B906-1FB9F5D422B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429000" y="1657350"/>
            <a:ext cx="2517648" cy="756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sz="4800" spc="-114" dirty="0">
                <a:latin typeface="Nirmala UI"/>
                <a:cs typeface="Nirmala UI"/>
              </a:rPr>
              <a:t>कलाकृ</a:t>
            </a:r>
            <a:r>
              <a:rPr sz="4800" spc="135" dirty="0">
                <a:latin typeface="Nirmala UI"/>
                <a:cs typeface="Nirmala UI"/>
              </a:rPr>
              <a:t>ति</a:t>
            </a:r>
            <a:endParaRPr sz="4800" dirty="0">
              <a:latin typeface="Nirmala UI"/>
              <a:cs typeface="Nirmala U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F37A033-B192-6492-602B-ED60BF8E1C4A}"/>
              </a:ext>
            </a:extLst>
          </p:cNvPr>
          <p:cNvSpPr/>
          <p:nvPr/>
        </p:nvSpPr>
        <p:spPr>
          <a:xfrm>
            <a:off x="8583168" y="3727703"/>
            <a:ext cx="325120" cy="280670"/>
          </a:xfrm>
          <a:custGeom>
            <a:avLst/>
            <a:gdLst/>
            <a:ahLst/>
            <a:cxnLst/>
            <a:rect l="l" t="t" r="r" b="b"/>
            <a:pathLst>
              <a:path w="325120" h="280670">
                <a:moveTo>
                  <a:pt x="162305" y="0"/>
                </a:moveTo>
                <a:lnTo>
                  <a:pt x="0" y="280416"/>
                </a:lnTo>
                <a:lnTo>
                  <a:pt x="324611" y="280416"/>
                </a:lnTo>
                <a:lnTo>
                  <a:pt x="162305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12DD1A8-3F8E-F73D-D39F-B2A555CF2537}"/>
              </a:ext>
            </a:extLst>
          </p:cNvPr>
          <p:cNvSpPr/>
          <p:nvPr/>
        </p:nvSpPr>
        <p:spPr>
          <a:xfrm>
            <a:off x="8583168" y="4122420"/>
            <a:ext cx="325120" cy="280670"/>
          </a:xfrm>
          <a:custGeom>
            <a:avLst/>
            <a:gdLst/>
            <a:ahLst/>
            <a:cxnLst/>
            <a:rect l="l" t="t" r="r" b="b"/>
            <a:pathLst>
              <a:path w="325120" h="280670">
                <a:moveTo>
                  <a:pt x="162305" y="0"/>
                </a:moveTo>
                <a:lnTo>
                  <a:pt x="0" y="280415"/>
                </a:lnTo>
                <a:lnTo>
                  <a:pt x="324611" y="280415"/>
                </a:lnTo>
                <a:lnTo>
                  <a:pt x="162305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C4DD28E-C4AF-2104-6680-FE3E6104830A}"/>
              </a:ext>
            </a:extLst>
          </p:cNvPr>
          <p:cNvSpPr/>
          <p:nvPr/>
        </p:nvSpPr>
        <p:spPr>
          <a:xfrm>
            <a:off x="8583168" y="4518659"/>
            <a:ext cx="325120" cy="280670"/>
          </a:xfrm>
          <a:custGeom>
            <a:avLst/>
            <a:gdLst/>
            <a:ahLst/>
            <a:cxnLst/>
            <a:rect l="l" t="t" r="r" b="b"/>
            <a:pathLst>
              <a:path w="325120" h="280670">
                <a:moveTo>
                  <a:pt x="162305" y="0"/>
                </a:moveTo>
                <a:lnTo>
                  <a:pt x="0" y="280415"/>
                </a:lnTo>
                <a:lnTo>
                  <a:pt x="324611" y="280415"/>
                </a:lnTo>
                <a:lnTo>
                  <a:pt x="162305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0063FC4-2BCB-2C80-6A41-771096BB0558}"/>
              </a:ext>
            </a:extLst>
          </p:cNvPr>
          <p:cNvSpPr/>
          <p:nvPr/>
        </p:nvSpPr>
        <p:spPr>
          <a:xfrm>
            <a:off x="8433816" y="102107"/>
            <a:ext cx="506095" cy="508000"/>
          </a:xfrm>
          <a:custGeom>
            <a:avLst/>
            <a:gdLst/>
            <a:ahLst/>
            <a:cxnLst/>
            <a:rect l="l" t="t" r="r" b="b"/>
            <a:pathLst>
              <a:path w="506095" h="508000">
                <a:moveTo>
                  <a:pt x="505968" y="0"/>
                </a:moveTo>
                <a:lnTo>
                  <a:pt x="0" y="0"/>
                </a:lnTo>
                <a:lnTo>
                  <a:pt x="0" y="507491"/>
                </a:lnTo>
                <a:lnTo>
                  <a:pt x="505968" y="507491"/>
                </a:lnTo>
                <a:lnTo>
                  <a:pt x="505968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E0DB5DF-85A6-DC23-878C-A3CEBF7655AF}"/>
              </a:ext>
            </a:extLst>
          </p:cNvPr>
          <p:cNvSpPr/>
          <p:nvPr/>
        </p:nvSpPr>
        <p:spPr>
          <a:xfrm>
            <a:off x="248411" y="4168140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8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8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6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A76FF4-908B-1455-1990-4649CCE2E116}"/>
              </a:ext>
            </a:extLst>
          </p:cNvPr>
          <p:cNvSpPr/>
          <p:nvPr/>
        </p:nvSpPr>
        <p:spPr>
          <a:xfrm>
            <a:off x="381000" y="4168140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7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7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5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7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DFF729D-9A1C-2B32-40E2-68D37633415E}"/>
              </a:ext>
            </a:extLst>
          </p:cNvPr>
          <p:cNvSpPr/>
          <p:nvPr/>
        </p:nvSpPr>
        <p:spPr>
          <a:xfrm>
            <a:off x="513587" y="4168140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8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8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6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FE7A9396-5031-6237-63F8-15ABC5F319AF}"/>
              </a:ext>
            </a:extLst>
          </p:cNvPr>
          <p:cNvSpPr/>
          <p:nvPr/>
        </p:nvSpPr>
        <p:spPr>
          <a:xfrm>
            <a:off x="646176" y="4168140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7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7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5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7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0EA7789-199E-0284-CCD4-AF3ADDE1AB65}"/>
              </a:ext>
            </a:extLst>
          </p:cNvPr>
          <p:cNvSpPr/>
          <p:nvPr/>
        </p:nvSpPr>
        <p:spPr>
          <a:xfrm>
            <a:off x="778763" y="4168140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8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8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5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25ADF163-6FFC-E5F2-A7F0-BDE05785DCCA}"/>
              </a:ext>
            </a:extLst>
          </p:cNvPr>
          <p:cNvSpPr/>
          <p:nvPr/>
        </p:nvSpPr>
        <p:spPr>
          <a:xfrm>
            <a:off x="248411" y="4283964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8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8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6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CBC7A97-CB0B-8F01-725D-9447B117DD5F}"/>
              </a:ext>
            </a:extLst>
          </p:cNvPr>
          <p:cNvSpPr/>
          <p:nvPr/>
        </p:nvSpPr>
        <p:spPr>
          <a:xfrm>
            <a:off x="381000" y="4283964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7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7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5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7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D066751F-3B80-F922-1232-983BAD87305D}"/>
              </a:ext>
            </a:extLst>
          </p:cNvPr>
          <p:cNvSpPr/>
          <p:nvPr/>
        </p:nvSpPr>
        <p:spPr>
          <a:xfrm>
            <a:off x="513587" y="4283964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8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8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6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5973896-355B-89EE-D441-BA4D4C0B83C0}"/>
              </a:ext>
            </a:extLst>
          </p:cNvPr>
          <p:cNvSpPr/>
          <p:nvPr/>
        </p:nvSpPr>
        <p:spPr>
          <a:xfrm>
            <a:off x="646176" y="4283964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7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7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5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7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C1BE1E7E-FA6A-340D-2E5D-27E260235B1F}"/>
              </a:ext>
            </a:extLst>
          </p:cNvPr>
          <p:cNvSpPr/>
          <p:nvPr/>
        </p:nvSpPr>
        <p:spPr>
          <a:xfrm>
            <a:off x="778763" y="4283964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8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8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5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4D5AB2FD-9BC8-C201-C034-C13364641367}"/>
              </a:ext>
            </a:extLst>
          </p:cNvPr>
          <p:cNvSpPr/>
          <p:nvPr/>
        </p:nvSpPr>
        <p:spPr>
          <a:xfrm>
            <a:off x="248411" y="4396740"/>
            <a:ext cx="44450" cy="47625"/>
          </a:xfrm>
          <a:custGeom>
            <a:avLst/>
            <a:gdLst/>
            <a:ahLst/>
            <a:cxnLst/>
            <a:rect l="l" t="t" r="r" b="b"/>
            <a:pathLst>
              <a:path w="44450" h="47625">
                <a:moveTo>
                  <a:pt x="22098" y="0"/>
                </a:moveTo>
                <a:lnTo>
                  <a:pt x="13496" y="1856"/>
                </a:lnTo>
                <a:lnTo>
                  <a:pt x="6472" y="6919"/>
                </a:lnTo>
                <a:lnTo>
                  <a:pt x="1736" y="14428"/>
                </a:lnTo>
                <a:lnTo>
                  <a:pt x="0" y="23622"/>
                </a:lnTo>
                <a:lnTo>
                  <a:pt x="1736" y="32815"/>
                </a:lnTo>
                <a:lnTo>
                  <a:pt x="6472" y="40324"/>
                </a:lnTo>
                <a:lnTo>
                  <a:pt x="13496" y="45387"/>
                </a:lnTo>
                <a:lnTo>
                  <a:pt x="22098" y="47244"/>
                </a:lnTo>
                <a:lnTo>
                  <a:pt x="30699" y="45387"/>
                </a:lnTo>
                <a:lnTo>
                  <a:pt x="37723" y="40324"/>
                </a:lnTo>
                <a:lnTo>
                  <a:pt x="42459" y="32815"/>
                </a:lnTo>
                <a:lnTo>
                  <a:pt x="44196" y="23622"/>
                </a:lnTo>
                <a:lnTo>
                  <a:pt x="42459" y="14428"/>
                </a:lnTo>
                <a:lnTo>
                  <a:pt x="37723" y="6919"/>
                </a:lnTo>
                <a:lnTo>
                  <a:pt x="30699" y="185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FA84A6A0-F140-B7D5-28FC-F5E28FA6C2AD}"/>
              </a:ext>
            </a:extLst>
          </p:cNvPr>
          <p:cNvSpPr/>
          <p:nvPr/>
        </p:nvSpPr>
        <p:spPr>
          <a:xfrm>
            <a:off x="381000" y="4396740"/>
            <a:ext cx="44450" cy="47625"/>
          </a:xfrm>
          <a:custGeom>
            <a:avLst/>
            <a:gdLst/>
            <a:ahLst/>
            <a:cxnLst/>
            <a:rect l="l" t="t" r="r" b="b"/>
            <a:pathLst>
              <a:path w="44450" h="47625">
                <a:moveTo>
                  <a:pt x="22097" y="0"/>
                </a:moveTo>
                <a:lnTo>
                  <a:pt x="13496" y="1856"/>
                </a:lnTo>
                <a:lnTo>
                  <a:pt x="6472" y="6919"/>
                </a:lnTo>
                <a:lnTo>
                  <a:pt x="1736" y="14428"/>
                </a:lnTo>
                <a:lnTo>
                  <a:pt x="0" y="23622"/>
                </a:lnTo>
                <a:lnTo>
                  <a:pt x="1736" y="32815"/>
                </a:lnTo>
                <a:lnTo>
                  <a:pt x="6472" y="40324"/>
                </a:lnTo>
                <a:lnTo>
                  <a:pt x="13496" y="45387"/>
                </a:lnTo>
                <a:lnTo>
                  <a:pt x="22097" y="47244"/>
                </a:lnTo>
                <a:lnTo>
                  <a:pt x="30699" y="45387"/>
                </a:lnTo>
                <a:lnTo>
                  <a:pt x="37723" y="40324"/>
                </a:lnTo>
                <a:lnTo>
                  <a:pt x="42459" y="32815"/>
                </a:lnTo>
                <a:lnTo>
                  <a:pt x="44195" y="23622"/>
                </a:lnTo>
                <a:lnTo>
                  <a:pt x="42459" y="14428"/>
                </a:lnTo>
                <a:lnTo>
                  <a:pt x="37723" y="6919"/>
                </a:lnTo>
                <a:lnTo>
                  <a:pt x="30699" y="1856"/>
                </a:lnTo>
                <a:lnTo>
                  <a:pt x="22097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3AB9D4A-A698-5FFE-1C32-1AC29E5532C5}"/>
              </a:ext>
            </a:extLst>
          </p:cNvPr>
          <p:cNvSpPr/>
          <p:nvPr/>
        </p:nvSpPr>
        <p:spPr>
          <a:xfrm>
            <a:off x="513587" y="4396740"/>
            <a:ext cx="44450" cy="47625"/>
          </a:xfrm>
          <a:custGeom>
            <a:avLst/>
            <a:gdLst/>
            <a:ahLst/>
            <a:cxnLst/>
            <a:rect l="l" t="t" r="r" b="b"/>
            <a:pathLst>
              <a:path w="44450" h="47625">
                <a:moveTo>
                  <a:pt x="22098" y="0"/>
                </a:moveTo>
                <a:lnTo>
                  <a:pt x="13496" y="1856"/>
                </a:lnTo>
                <a:lnTo>
                  <a:pt x="6472" y="6919"/>
                </a:lnTo>
                <a:lnTo>
                  <a:pt x="1736" y="14428"/>
                </a:lnTo>
                <a:lnTo>
                  <a:pt x="0" y="23622"/>
                </a:lnTo>
                <a:lnTo>
                  <a:pt x="1736" y="32815"/>
                </a:lnTo>
                <a:lnTo>
                  <a:pt x="6472" y="40324"/>
                </a:lnTo>
                <a:lnTo>
                  <a:pt x="13496" y="45387"/>
                </a:lnTo>
                <a:lnTo>
                  <a:pt x="22098" y="47244"/>
                </a:lnTo>
                <a:lnTo>
                  <a:pt x="30699" y="45387"/>
                </a:lnTo>
                <a:lnTo>
                  <a:pt x="37723" y="40324"/>
                </a:lnTo>
                <a:lnTo>
                  <a:pt x="42459" y="32815"/>
                </a:lnTo>
                <a:lnTo>
                  <a:pt x="44196" y="23622"/>
                </a:lnTo>
                <a:lnTo>
                  <a:pt x="42459" y="14428"/>
                </a:lnTo>
                <a:lnTo>
                  <a:pt x="37723" y="6919"/>
                </a:lnTo>
                <a:lnTo>
                  <a:pt x="30699" y="185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9AE7E700-3A2B-93A8-3261-6B4B41FEB03F}"/>
              </a:ext>
            </a:extLst>
          </p:cNvPr>
          <p:cNvSpPr/>
          <p:nvPr/>
        </p:nvSpPr>
        <p:spPr>
          <a:xfrm>
            <a:off x="646176" y="4396740"/>
            <a:ext cx="44450" cy="47625"/>
          </a:xfrm>
          <a:custGeom>
            <a:avLst/>
            <a:gdLst/>
            <a:ahLst/>
            <a:cxnLst/>
            <a:rect l="l" t="t" r="r" b="b"/>
            <a:pathLst>
              <a:path w="44450" h="47625">
                <a:moveTo>
                  <a:pt x="22097" y="0"/>
                </a:moveTo>
                <a:lnTo>
                  <a:pt x="13496" y="1856"/>
                </a:lnTo>
                <a:lnTo>
                  <a:pt x="6472" y="6919"/>
                </a:lnTo>
                <a:lnTo>
                  <a:pt x="1736" y="14428"/>
                </a:lnTo>
                <a:lnTo>
                  <a:pt x="0" y="23622"/>
                </a:lnTo>
                <a:lnTo>
                  <a:pt x="1736" y="32815"/>
                </a:lnTo>
                <a:lnTo>
                  <a:pt x="6472" y="40324"/>
                </a:lnTo>
                <a:lnTo>
                  <a:pt x="13496" y="45387"/>
                </a:lnTo>
                <a:lnTo>
                  <a:pt x="22097" y="47244"/>
                </a:lnTo>
                <a:lnTo>
                  <a:pt x="30699" y="45387"/>
                </a:lnTo>
                <a:lnTo>
                  <a:pt x="37723" y="40324"/>
                </a:lnTo>
                <a:lnTo>
                  <a:pt x="42459" y="32815"/>
                </a:lnTo>
                <a:lnTo>
                  <a:pt x="44195" y="23622"/>
                </a:lnTo>
                <a:lnTo>
                  <a:pt x="42459" y="14428"/>
                </a:lnTo>
                <a:lnTo>
                  <a:pt x="37723" y="6919"/>
                </a:lnTo>
                <a:lnTo>
                  <a:pt x="30699" y="1856"/>
                </a:lnTo>
                <a:lnTo>
                  <a:pt x="22097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BF5EFA15-71E4-9578-91E8-1CC4ADBA4F9B}"/>
              </a:ext>
            </a:extLst>
          </p:cNvPr>
          <p:cNvSpPr/>
          <p:nvPr/>
        </p:nvSpPr>
        <p:spPr>
          <a:xfrm>
            <a:off x="778763" y="4396740"/>
            <a:ext cx="44450" cy="47625"/>
          </a:xfrm>
          <a:custGeom>
            <a:avLst/>
            <a:gdLst/>
            <a:ahLst/>
            <a:cxnLst/>
            <a:rect l="l" t="t" r="r" b="b"/>
            <a:pathLst>
              <a:path w="44450" h="47625">
                <a:moveTo>
                  <a:pt x="22098" y="0"/>
                </a:moveTo>
                <a:lnTo>
                  <a:pt x="13496" y="1856"/>
                </a:lnTo>
                <a:lnTo>
                  <a:pt x="6472" y="6919"/>
                </a:lnTo>
                <a:lnTo>
                  <a:pt x="1736" y="14428"/>
                </a:lnTo>
                <a:lnTo>
                  <a:pt x="0" y="23622"/>
                </a:lnTo>
                <a:lnTo>
                  <a:pt x="1736" y="32815"/>
                </a:lnTo>
                <a:lnTo>
                  <a:pt x="6472" y="40324"/>
                </a:lnTo>
                <a:lnTo>
                  <a:pt x="13496" y="45387"/>
                </a:lnTo>
                <a:lnTo>
                  <a:pt x="22098" y="47244"/>
                </a:lnTo>
                <a:lnTo>
                  <a:pt x="30699" y="45387"/>
                </a:lnTo>
                <a:lnTo>
                  <a:pt x="37723" y="40324"/>
                </a:lnTo>
                <a:lnTo>
                  <a:pt x="42459" y="32815"/>
                </a:lnTo>
                <a:lnTo>
                  <a:pt x="44195" y="23622"/>
                </a:lnTo>
                <a:lnTo>
                  <a:pt x="42459" y="14428"/>
                </a:lnTo>
                <a:lnTo>
                  <a:pt x="37723" y="6919"/>
                </a:lnTo>
                <a:lnTo>
                  <a:pt x="30699" y="185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0A512DDD-1752-F0D5-C5B6-82BE32AD9F69}"/>
              </a:ext>
            </a:extLst>
          </p:cNvPr>
          <p:cNvSpPr/>
          <p:nvPr/>
        </p:nvSpPr>
        <p:spPr>
          <a:xfrm>
            <a:off x="248411" y="4514088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8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8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6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098C4774-51E3-FDA2-F9A5-900BE59032B2}"/>
              </a:ext>
            </a:extLst>
          </p:cNvPr>
          <p:cNvSpPr/>
          <p:nvPr/>
        </p:nvSpPr>
        <p:spPr>
          <a:xfrm>
            <a:off x="381000" y="4514088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7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7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5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7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D1588392-CD70-D915-4508-FFB64196FE8A}"/>
              </a:ext>
            </a:extLst>
          </p:cNvPr>
          <p:cNvSpPr/>
          <p:nvPr/>
        </p:nvSpPr>
        <p:spPr>
          <a:xfrm>
            <a:off x="513587" y="4514088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8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8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6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88C735FA-AD73-24FC-263A-F419C693102E}"/>
              </a:ext>
            </a:extLst>
          </p:cNvPr>
          <p:cNvSpPr/>
          <p:nvPr/>
        </p:nvSpPr>
        <p:spPr>
          <a:xfrm>
            <a:off x="646176" y="4514088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7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7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5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7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3ED83BB9-A6CA-4E66-5E18-FA44BF08B7D9}"/>
              </a:ext>
            </a:extLst>
          </p:cNvPr>
          <p:cNvSpPr/>
          <p:nvPr/>
        </p:nvSpPr>
        <p:spPr>
          <a:xfrm>
            <a:off x="778763" y="4514088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8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8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5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A7E69E2A-490A-5226-20CA-4DF1E1E3C0A8}"/>
              </a:ext>
            </a:extLst>
          </p:cNvPr>
          <p:cNvSpPr/>
          <p:nvPr/>
        </p:nvSpPr>
        <p:spPr>
          <a:xfrm>
            <a:off x="248411" y="4629911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8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59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8" y="45719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6" y="22859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F2B54318-2104-749D-0DE3-28CAEC6F3FE5}"/>
              </a:ext>
            </a:extLst>
          </p:cNvPr>
          <p:cNvSpPr/>
          <p:nvPr/>
        </p:nvSpPr>
        <p:spPr>
          <a:xfrm>
            <a:off x="381000" y="4629911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7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59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7" y="45719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5" y="22859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7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79C2F55-D7A2-16C8-96FB-72B15ED5F86E}"/>
              </a:ext>
            </a:extLst>
          </p:cNvPr>
          <p:cNvSpPr/>
          <p:nvPr/>
        </p:nvSpPr>
        <p:spPr>
          <a:xfrm>
            <a:off x="513587" y="4629911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8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59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8" y="45719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6" y="22859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47C8182B-9F65-ABDF-3DBE-3444B1C4EC5B}"/>
              </a:ext>
            </a:extLst>
          </p:cNvPr>
          <p:cNvSpPr/>
          <p:nvPr/>
        </p:nvSpPr>
        <p:spPr>
          <a:xfrm>
            <a:off x="646176" y="4629911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7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59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7" y="45719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5" y="22859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7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AF986081-3B3B-7EB7-F478-741A13B85D48}"/>
              </a:ext>
            </a:extLst>
          </p:cNvPr>
          <p:cNvSpPr/>
          <p:nvPr/>
        </p:nvSpPr>
        <p:spPr>
          <a:xfrm>
            <a:off x="778763" y="4629911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8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59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8" y="45719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5" y="22859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ACD94F00-C6DD-5D6E-AF9C-402D138C7192}"/>
              </a:ext>
            </a:extLst>
          </p:cNvPr>
          <p:cNvSpPr txBox="1"/>
          <p:nvPr/>
        </p:nvSpPr>
        <p:spPr>
          <a:xfrm>
            <a:off x="2094611" y="2589872"/>
            <a:ext cx="51892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dirty="0">
                <a:solidFill>
                  <a:srgbClr val="00492D"/>
                </a:solidFill>
                <a:latin typeface="Times New Roman"/>
                <a:cs typeface="Times New Roman"/>
              </a:rPr>
              <a:t>Curating</a:t>
            </a:r>
            <a:r>
              <a:rPr sz="2800" b="1" i="1" spc="175" dirty="0">
                <a:solidFill>
                  <a:srgbClr val="00492D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00492D"/>
                </a:solidFill>
                <a:latin typeface="Times New Roman"/>
                <a:cs typeface="Times New Roman"/>
              </a:rPr>
              <a:t>Culture,</a:t>
            </a:r>
            <a:r>
              <a:rPr sz="2800" b="1" i="1" spc="185" dirty="0">
                <a:solidFill>
                  <a:srgbClr val="00492D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00492D"/>
                </a:solidFill>
                <a:latin typeface="Times New Roman"/>
                <a:cs typeface="Times New Roman"/>
              </a:rPr>
              <a:t>Crafting</a:t>
            </a:r>
            <a:r>
              <a:rPr sz="2800" b="1" i="1" spc="190" dirty="0">
                <a:solidFill>
                  <a:srgbClr val="00492D"/>
                </a:solidFill>
                <a:latin typeface="Times New Roman"/>
                <a:cs typeface="Times New Roman"/>
              </a:rPr>
              <a:t> </a:t>
            </a:r>
            <a:r>
              <a:rPr sz="2800" b="1" i="1" spc="-10" dirty="0">
                <a:solidFill>
                  <a:srgbClr val="00492D"/>
                </a:solidFill>
                <a:latin typeface="Times New Roman"/>
                <a:cs typeface="Times New Roman"/>
              </a:rPr>
              <a:t>Stories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4297834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86800" y="4860035"/>
            <a:ext cx="119380" cy="119380"/>
          </a:xfrm>
          <a:custGeom>
            <a:avLst/>
            <a:gdLst/>
            <a:ahLst/>
            <a:cxnLst/>
            <a:rect l="l" t="t" r="r" b="b"/>
            <a:pathLst>
              <a:path w="119379" h="119379">
                <a:moveTo>
                  <a:pt x="118872" y="0"/>
                </a:moveTo>
                <a:lnTo>
                  <a:pt x="0" y="0"/>
                </a:lnTo>
                <a:lnTo>
                  <a:pt x="0" y="118871"/>
                </a:lnTo>
                <a:lnTo>
                  <a:pt x="118872" y="118871"/>
                </a:lnTo>
                <a:lnTo>
                  <a:pt x="118872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1640" y="196341"/>
            <a:ext cx="35947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Executive</a:t>
            </a:r>
            <a:r>
              <a:rPr spc="-170" dirty="0"/>
              <a:t> </a:t>
            </a:r>
            <a:r>
              <a:rPr spc="-100" dirty="0"/>
              <a:t>Summary</a:t>
            </a:r>
          </a:p>
        </p:txBody>
      </p:sp>
      <p:sp>
        <p:nvSpPr>
          <p:cNvPr id="4" name="object 4"/>
          <p:cNvSpPr/>
          <p:nvPr/>
        </p:nvSpPr>
        <p:spPr>
          <a:xfrm>
            <a:off x="216408" y="763523"/>
            <a:ext cx="8471535" cy="0"/>
          </a:xfrm>
          <a:custGeom>
            <a:avLst/>
            <a:gdLst/>
            <a:ahLst/>
            <a:cxnLst/>
            <a:rect l="l" t="t" r="r" b="b"/>
            <a:pathLst>
              <a:path w="8471535">
                <a:moveTo>
                  <a:pt x="0" y="0"/>
                </a:moveTo>
                <a:lnTo>
                  <a:pt x="8471154" y="0"/>
                </a:lnTo>
              </a:path>
            </a:pathLst>
          </a:custGeom>
          <a:ln w="9144">
            <a:solidFill>
              <a:srgbClr val="00492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8838" y="912622"/>
            <a:ext cx="8174990" cy="36182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3215" marR="155575" indent="-311150">
              <a:lnSpc>
                <a:spcPct val="100000"/>
              </a:lnSpc>
              <a:spcBef>
                <a:spcPts val="95"/>
              </a:spcBef>
              <a:buClr>
                <a:srgbClr val="00160D"/>
              </a:buClr>
              <a:buFont typeface="Arial MT"/>
              <a:buChar char="●"/>
              <a:tabLst>
                <a:tab pos="323215" algn="l"/>
              </a:tabLst>
            </a:pPr>
            <a:r>
              <a:rPr sz="1300" b="1" spc="-65" dirty="0">
                <a:solidFill>
                  <a:srgbClr val="00492D"/>
                </a:solidFill>
                <a:latin typeface="Arial"/>
                <a:cs typeface="Arial"/>
              </a:rPr>
              <a:t>Business</a:t>
            </a:r>
            <a:r>
              <a:rPr sz="1300" b="1" spc="1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0492D"/>
                </a:solidFill>
                <a:latin typeface="Arial"/>
                <a:cs typeface="Arial"/>
              </a:rPr>
              <a:t>Name</a:t>
            </a:r>
            <a:r>
              <a:rPr sz="1300" b="1" spc="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00492D"/>
                </a:solidFill>
                <a:latin typeface="Arial"/>
                <a:cs typeface="Arial"/>
              </a:rPr>
              <a:t>and</a:t>
            </a:r>
            <a:r>
              <a:rPr sz="1300" b="1" spc="1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300" b="1" spc="-45" dirty="0">
                <a:solidFill>
                  <a:srgbClr val="00492D"/>
                </a:solidFill>
                <a:latin typeface="Arial"/>
                <a:cs typeface="Arial"/>
              </a:rPr>
              <a:t>Concept:</a:t>
            </a:r>
            <a:r>
              <a:rPr sz="1300" b="1" spc="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300" spc="75" dirty="0">
                <a:solidFill>
                  <a:srgbClr val="00160D"/>
                </a:solidFill>
                <a:latin typeface="Arial MT"/>
                <a:cs typeface="Arial MT"/>
              </a:rPr>
              <a:t>A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 marketplace</a:t>
            </a:r>
            <a:r>
              <a:rPr sz="1300" spc="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for</a:t>
            </a:r>
            <a:r>
              <a:rPr sz="1300" spc="-1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handcrafted</a:t>
            </a:r>
            <a:r>
              <a:rPr sz="1300" spc="2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regional</a:t>
            </a:r>
            <a:r>
              <a:rPr sz="1300" spc="1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artifacts,</a:t>
            </a:r>
            <a:r>
              <a:rPr sz="1300" spc="-1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connecting</a:t>
            </a:r>
            <a:r>
              <a:rPr sz="1300" spc="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artisans</a:t>
            </a:r>
            <a:r>
              <a:rPr sz="1300" spc="-2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spc="40" dirty="0">
                <a:solidFill>
                  <a:srgbClr val="00160D"/>
                </a:solidFill>
                <a:latin typeface="Arial MT"/>
                <a:cs typeface="Arial MT"/>
              </a:rPr>
              <a:t>with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buyers</a:t>
            </a:r>
            <a:r>
              <a:rPr sz="1300" spc="-6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00160D"/>
                </a:solidFill>
                <a:latin typeface="Arial MT"/>
                <a:cs typeface="Arial MT"/>
              </a:rPr>
              <a:t>seeking</a:t>
            </a:r>
            <a:r>
              <a:rPr sz="1300" spc="-3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unique</a:t>
            </a:r>
            <a:r>
              <a:rPr sz="1300" spc="-5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home</a:t>
            </a:r>
            <a:r>
              <a:rPr sz="1300" spc="-3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decor</a:t>
            </a:r>
            <a:r>
              <a:rPr sz="1300" spc="-3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and</a:t>
            </a:r>
            <a:r>
              <a:rPr sz="1300" spc="-2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00160D"/>
                </a:solidFill>
                <a:latin typeface="Arial MT"/>
                <a:cs typeface="Arial MT"/>
              </a:rPr>
              <a:t>collectibles.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Clr>
                <a:srgbClr val="00160D"/>
              </a:buClr>
              <a:buFont typeface="Arial MT"/>
              <a:buChar char="●"/>
            </a:pPr>
            <a:endParaRPr sz="1300">
              <a:latin typeface="Arial MT"/>
              <a:cs typeface="Arial MT"/>
            </a:endParaRPr>
          </a:p>
          <a:p>
            <a:pPr marL="323215" marR="499745" indent="-311150">
              <a:lnSpc>
                <a:spcPct val="100000"/>
              </a:lnSpc>
              <a:spcBef>
                <a:spcPts val="5"/>
              </a:spcBef>
              <a:buClr>
                <a:srgbClr val="00160D"/>
              </a:buClr>
              <a:buFont typeface="Arial MT"/>
              <a:buChar char="●"/>
              <a:tabLst>
                <a:tab pos="323215" algn="l"/>
              </a:tabLst>
            </a:pPr>
            <a:r>
              <a:rPr sz="1300" b="1" spc="-40" dirty="0">
                <a:solidFill>
                  <a:srgbClr val="00492D"/>
                </a:solidFill>
                <a:latin typeface="Arial"/>
                <a:cs typeface="Arial"/>
              </a:rPr>
              <a:t>Mission</a:t>
            </a:r>
            <a:r>
              <a:rPr sz="1300" b="1" spc="4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00492D"/>
                </a:solidFill>
                <a:latin typeface="Arial"/>
                <a:cs typeface="Arial"/>
              </a:rPr>
              <a:t>Statement</a:t>
            </a:r>
            <a:r>
              <a:rPr sz="1300" b="1" spc="-10" dirty="0">
                <a:solidFill>
                  <a:srgbClr val="00160D"/>
                </a:solidFill>
                <a:latin typeface="Arial"/>
                <a:cs typeface="Arial"/>
              </a:rPr>
              <a:t>:</a:t>
            </a:r>
            <a:r>
              <a:rPr sz="1300" b="1" spc="85" dirty="0">
                <a:solidFill>
                  <a:srgbClr val="00160D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Empowering</a:t>
            </a:r>
            <a:r>
              <a:rPr sz="1300" spc="6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artisans</a:t>
            </a:r>
            <a:r>
              <a:rPr sz="1300" spc="2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by</a:t>
            </a:r>
            <a:r>
              <a:rPr sz="1300" spc="3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providing</a:t>
            </a:r>
            <a:r>
              <a:rPr sz="1300" spc="4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a</a:t>
            </a:r>
            <a:r>
              <a:rPr sz="1300" spc="3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global</a:t>
            </a:r>
            <a:r>
              <a:rPr sz="1300" spc="5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platform</a:t>
            </a:r>
            <a:r>
              <a:rPr sz="1300" spc="4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to</a:t>
            </a:r>
            <a:r>
              <a:rPr sz="1300" spc="2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showcase</a:t>
            </a:r>
            <a:r>
              <a:rPr sz="1300" spc="5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and</a:t>
            </a:r>
            <a:r>
              <a:rPr sz="1300" spc="4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sell</a:t>
            </a:r>
            <a:r>
              <a:rPr sz="1300" spc="4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00160D"/>
                </a:solidFill>
                <a:latin typeface="Arial MT"/>
                <a:cs typeface="Arial MT"/>
              </a:rPr>
              <a:t>their creations.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00160D"/>
              </a:buClr>
              <a:buFont typeface="Arial MT"/>
              <a:buChar char="●"/>
            </a:pPr>
            <a:endParaRPr sz="1300">
              <a:latin typeface="Arial MT"/>
              <a:cs typeface="Arial MT"/>
            </a:endParaRPr>
          </a:p>
          <a:p>
            <a:pPr marL="323215" indent="-310515">
              <a:lnSpc>
                <a:spcPct val="100000"/>
              </a:lnSpc>
              <a:spcBef>
                <a:spcPts val="5"/>
              </a:spcBef>
              <a:buClr>
                <a:srgbClr val="00160D"/>
              </a:buClr>
              <a:buFont typeface="Arial MT"/>
              <a:buChar char="●"/>
              <a:tabLst>
                <a:tab pos="323215" algn="l"/>
              </a:tabLst>
            </a:pPr>
            <a:r>
              <a:rPr sz="1300" b="1" spc="-25" dirty="0">
                <a:solidFill>
                  <a:srgbClr val="00492D"/>
                </a:solidFill>
                <a:latin typeface="Arial"/>
                <a:cs typeface="Arial"/>
              </a:rPr>
              <a:t>Vision</a:t>
            </a:r>
            <a:r>
              <a:rPr sz="1300" b="1" spc="3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00492D"/>
                </a:solidFill>
                <a:latin typeface="Arial"/>
                <a:cs typeface="Arial"/>
              </a:rPr>
              <a:t>Statement:</a:t>
            </a:r>
            <a:r>
              <a:rPr sz="1300" b="1" spc="4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To</a:t>
            </a:r>
            <a:r>
              <a:rPr sz="1300" spc="1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be</a:t>
            </a:r>
            <a:r>
              <a:rPr sz="1300" spc="1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the</a:t>
            </a:r>
            <a:r>
              <a:rPr sz="1300" spc="1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leading</a:t>
            </a:r>
            <a:r>
              <a:rPr sz="1300" spc="2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marketplace</a:t>
            </a:r>
            <a:r>
              <a:rPr sz="1300" spc="2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for</a:t>
            </a:r>
            <a:r>
              <a:rPr sz="1300" spc="2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authentic handcrafted</a:t>
            </a:r>
            <a:r>
              <a:rPr sz="1300" spc="3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artifacts,</a:t>
            </a:r>
            <a:r>
              <a:rPr sz="1300" spc="1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empowering</a:t>
            </a:r>
            <a:r>
              <a:rPr sz="1300" spc="4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00160D"/>
                </a:solidFill>
                <a:latin typeface="Arial MT"/>
                <a:cs typeface="Arial MT"/>
              </a:rPr>
              <a:t>artisans</a:t>
            </a:r>
            <a:endParaRPr sz="1300">
              <a:latin typeface="Arial MT"/>
              <a:cs typeface="Arial MT"/>
            </a:endParaRPr>
          </a:p>
          <a:p>
            <a:pPr marL="323215">
              <a:lnSpc>
                <a:spcPct val="100000"/>
              </a:lnSpc>
            </a:pP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while</a:t>
            </a:r>
            <a:r>
              <a:rPr sz="1300" spc="6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offering</a:t>
            </a:r>
            <a:r>
              <a:rPr sz="1300" spc="8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customers</a:t>
            </a:r>
            <a:r>
              <a:rPr sz="1300" spc="5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exclusive,</a:t>
            </a:r>
            <a:r>
              <a:rPr sz="1300" spc="8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high-quality</a:t>
            </a:r>
            <a:r>
              <a:rPr sz="1300" spc="7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decor</a:t>
            </a:r>
            <a:r>
              <a:rPr sz="1300" spc="7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00160D"/>
                </a:solidFill>
                <a:latin typeface="Arial MT"/>
                <a:cs typeface="Arial MT"/>
              </a:rPr>
              <a:t>pieces.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300">
              <a:latin typeface="Arial MT"/>
              <a:cs typeface="Arial MT"/>
            </a:endParaRPr>
          </a:p>
          <a:p>
            <a:pPr marL="323215" marR="709295" indent="-311150">
              <a:lnSpc>
                <a:spcPct val="100000"/>
              </a:lnSpc>
              <a:buClr>
                <a:srgbClr val="00160D"/>
              </a:buClr>
              <a:buFont typeface="Arial MT"/>
              <a:buChar char="●"/>
              <a:tabLst>
                <a:tab pos="323215" algn="l"/>
              </a:tabLst>
            </a:pPr>
            <a:r>
              <a:rPr sz="1300" b="1" spc="-35" dirty="0">
                <a:solidFill>
                  <a:srgbClr val="00492D"/>
                </a:solidFill>
                <a:latin typeface="Arial"/>
                <a:cs typeface="Arial"/>
              </a:rPr>
              <a:t>Service</a:t>
            </a:r>
            <a:r>
              <a:rPr sz="1300" b="1" spc="1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00492D"/>
                </a:solidFill>
                <a:latin typeface="Arial"/>
                <a:cs typeface="Arial"/>
              </a:rPr>
              <a:t>Offering:</a:t>
            </a:r>
            <a:r>
              <a:rPr sz="1300" b="1" spc="4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Verified</a:t>
            </a:r>
            <a:r>
              <a:rPr sz="1300" spc="1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regional</a:t>
            </a:r>
            <a:r>
              <a:rPr sz="1300" spc="1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artifacts,</a:t>
            </a:r>
            <a:r>
              <a:rPr sz="1300" spc="-1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exclusive</a:t>
            </a:r>
            <a:r>
              <a:rPr sz="1300" spc="-1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bidding,</a:t>
            </a:r>
            <a:r>
              <a:rPr sz="1300" spc="2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personalized</a:t>
            </a:r>
            <a:r>
              <a:rPr sz="1300" spc="2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gifts,</a:t>
            </a:r>
            <a:r>
              <a:rPr sz="1300" spc="-1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and</a:t>
            </a:r>
            <a:r>
              <a:rPr sz="1300" spc="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a</a:t>
            </a:r>
            <a:r>
              <a:rPr sz="1300" spc="-1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00160D"/>
                </a:solidFill>
                <a:latin typeface="Arial MT"/>
                <a:cs typeface="Arial MT"/>
              </a:rPr>
              <a:t>premium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subscription</a:t>
            </a:r>
            <a:r>
              <a:rPr sz="1300" spc="5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00160D"/>
                </a:solidFill>
                <a:latin typeface="Arial MT"/>
                <a:cs typeface="Arial MT"/>
              </a:rPr>
              <a:t>model.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Clr>
                <a:srgbClr val="00160D"/>
              </a:buClr>
              <a:buFont typeface="Arial MT"/>
              <a:buChar char="●"/>
            </a:pPr>
            <a:endParaRPr sz="1300">
              <a:latin typeface="Arial MT"/>
              <a:cs typeface="Arial MT"/>
            </a:endParaRPr>
          </a:p>
          <a:p>
            <a:pPr marL="323215" indent="-310515">
              <a:lnSpc>
                <a:spcPct val="100000"/>
              </a:lnSpc>
              <a:spcBef>
                <a:spcPts val="5"/>
              </a:spcBef>
              <a:buClr>
                <a:srgbClr val="00160D"/>
              </a:buClr>
              <a:buFont typeface="Arial MT"/>
              <a:buChar char="●"/>
              <a:tabLst>
                <a:tab pos="323215" algn="l"/>
              </a:tabLst>
            </a:pPr>
            <a:r>
              <a:rPr sz="1300" b="1" dirty="0">
                <a:solidFill>
                  <a:srgbClr val="00492D"/>
                </a:solidFill>
                <a:latin typeface="Arial"/>
                <a:cs typeface="Arial"/>
              </a:rPr>
              <a:t>Target</a:t>
            </a:r>
            <a:r>
              <a:rPr sz="1300" b="1" spc="3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00492D"/>
                </a:solidFill>
                <a:latin typeface="Arial"/>
                <a:cs typeface="Arial"/>
              </a:rPr>
              <a:t>Market:</a:t>
            </a:r>
            <a:r>
              <a:rPr sz="1300" b="1" spc="2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Home</a:t>
            </a:r>
            <a:r>
              <a:rPr sz="1300" spc="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decor</a:t>
            </a:r>
            <a:r>
              <a:rPr sz="1300" spc="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enthusiasts,</a:t>
            </a:r>
            <a:r>
              <a:rPr sz="1300" spc="-1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collectors,</a:t>
            </a:r>
            <a:r>
              <a:rPr sz="1300" spc="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gift </a:t>
            </a:r>
            <a:r>
              <a:rPr sz="1300" spc="-10" dirty="0">
                <a:solidFill>
                  <a:srgbClr val="00160D"/>
                </a:solidFill>
                <a:latin typeface="Arial MT"/>
                <a:cs typeface="Arial MT"/>
              </a:rPr>
              <a:t>shoppers,</a:t>
            </a:r>
            <a:r>
              <a:rPr sz="1300" spc="2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and</a:t>
            </a:r>
            <a:r>
              <a:rPr sz="1300" spc="-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interior</a:t>
            </a:r>
            <a:r>
              <a:rPr sz="1300" spc="-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00160D"/>
                </a:solidFill>
                <a:latin typeface="Arial MT"/>
                <a:cs typeface="Arial MT"/>
              </a:rPr>
              <a:t>designers.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Clr>
                <a:srgbClr val="00160D"/>
              </a:buClr>
              <a:buFont typeface="Arial MT"/>
              <a:buChar char="●"/>
            </a:pPr>
            <a:endParaRPr sz="1300">
              <a:latin typeface="Arial MT"/>
              <a:cs typeface="Arial MT"/>
            </a:endParaRPr>
          </a:p>
          <a:p>
            <a:pPr marL="323215" marR="1021080" indent="-311150">
              <a:lnSpc>
                <a:spcPct val="100000"/>
              </a:lnSpc>
              <a:buClr>
                <a:srgbClr val="00160D"/>
              </a:buClr>
              <a:buFont typeface="Arial MT"/>
              <a:buChar char="●"/>
              <a:tabLst>
                <a:tab pos="323215" algn="l"/>
              </a:tabLst>
            </a:pPr>
            <a:r>
              <a:rPr sz="1300" b="1" spc="-20" dirty="0">
                <a:solidFill>
                  <a:srgbClr val="00492D"/>
                </a:solidFill>
                <a:latin typeface="Arial"/>
                <a:cs typeface="Arial"/>
              </a:rPr>
              <a:t>Competitive</a:t>
            </a:r>
            <a:r>
              <a:rPr sz="1300" b="1" spc="4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00492D"/>
                </a:solidFill>
                <a:latin typeface="Arial"/>
                <a:cs typeface="Arial"/>
              </a:rPr>
              <a:t>Advantage:</a:t>
            </a:r>
            <a:r>
              <a:rPr sz="1300" b="1" spc="5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Authentic handcrafted</a:t>
            </a:r>
            <a:r>
              <a:rPr sz="1300" spc="2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artifacts,</a:t>
            </a:r>
            <a:r>
              <a:rPr sz="1300" spc="1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spc="50" dirty="0">
                <a:solidFill>
                  <a:srgbClr val="00160D"/>
                </a:solidFill>
                <a:latin typeface="Arial MT"/>
                <a:cs typeface="Arial MT"/>
              </a:rPr>
              <a:t>AI-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driven</a:t>
            </a:r>
            <a:r>
              <a:rPr sz="1300" spc="1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shopping,</a:t>
            </a:r>
            <a:r>
              <a:rPr sz="1300" spc="5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and</a:t>
            </a:r>
            <a:r>
              <a:rPr sz="1300" spc="1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00160D"/>
                </a:solidFill>
                <a:latin typeface="Arial MT"/>
                <a:cs typeface="Arial MT"/>
              </a:rPr>
              <a:t>influencer collaborations.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Clr>
                <a:srgbClr val="00160D"/>
              </a:buClr>
              <a:buFont typeface="Arial MT"/>
              <a:buChar char="●"/>
            </a:pPr>
            <a:endParaRPr sz="1300">
              <a:latin typeface="Arial MT"/>
              <a:cs typeface="Arial MT"/>
            </a:endParaRPr>
          </a:p>
          <a:p>
            <a:pPr marL="323215" indent="-310515">
              <a:lnSpc>
                <a:spcPct val="100000"/>
              </a:lnSpc>
              <a:buClr>
                <a:srgbClr val="00160D"/>
              </a:buClr>
              <a:buFont typeface="Arial MT"/>
              <a:buChar char="●"/>
              <a:tabLst>
                <a:tab pos="323215" algn="l"/>
              </a:tabLst>
            </a:pPr>
            <a:r>
              <a:rPr sz="1300" b="1" spc="-35" dirty="0">
                <a:solidFill>
                  <a:srgbClr val="00492D"/>
                </a:solidFill>
                <a:latin typeface="Arial"/>
                <a:cs typeface="Arial"/>
              </a:rPr>
              <a:t>Financial</a:t>
            </a:r>
            <a:r>
              <a:rPr sz="1300" b="1" spc="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00492D"/>
                </a:solidFill>
                <a:latin typeface="Arial"/>
                <a:cs typeface="Arial"/>
              </a:rPr>
              <a:t>Overview:</a:t>
            </a:r>
            <a:r>
              <a:rPr sz="1300" b="1" spc="2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00160D"/>
                </a:solidFill>
                <a:latin typeface="Arial MT"/>
                <a:cs typeface="Arial MT"/>
              </a:rPr>
              <a:t>Revenue</a:t>
            </a:r>
            <a:r>
              <a:rPr sz="1300" spc="-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from</a:t>
            </a:r>
            <a:r>
              <a:rPr sz="1300" spc="-2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sales</a:t>
            </a:r>
            <a:r>
              <a:rPr sz="1300" spc="-10" dirty="0">
                <a:solidFill>
                  <a:srgbClr val="00160D"/>
                </a:solidFill>
                <a:latin typeface="Arial MT"/>
                <a:cs typeface="Arial MT"/>
              </a:rPr>
              <a:t> commissions,</a:t>
            </a:r>
            <a:r>
              <a:rPr sz="1300" spc="1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subscriptions,</a:t>
            </a:r>
            <a:r>
              <a:rPr sz="1300" spc="-1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bidding</a:t>
            </a:r>
            <a:r>
              <a:rPr sz="1300" spc="1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00160D"/>
                </a:solidFill>
                <a:latin typeface="Arial MT"/>
                <a:cs typeface="Arial MT"/>
              </a:rPr>
              <a:t>fees,</a:t>
            </a:r>
            <a:r>
              <a:rPr sz="1300" spc="-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and</a:t>
            </a:r>
            <a:r>
              <a:rPr sz="1300" spc="-1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00160D"/>
                </a:solidFill>
                <a:latin typeface="Arial MT"/>
                <a:cs typeface="Arial MT"/>
              </a:rPr>
              <a:t>seller</a:t>
            </a:r>
            <a:r>
              <a:rPr sz="1300" spc="-10" dirty="0">
                <a:solidFill>
                  <a:srgbClr val="00160D"/>
                </a:solidFill>
                <a:latin typeface="Arial MT"/>
                <a:cs typeface="Arial MT"/>
              </a:rPr>
              <a:t> promotions.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33816" y="102107"/>
            <a:ext cx="506095" cy="508000"/>
          </a:xfrm>
          <a:custGeom>
            <a:avLst/>
            <a:gdLst/>
            <a:ahLst/>
            <a:cxnLst/>
            <a:rect l="l" t="t" r="r" b="b"/>
            <a:pathLst>
              <a:path w="506095" h="508000">
                <a:moveTo>
                  <a:pt x="505968" y="0"/>
                </a:moveTo>
                <a:lnTo>
                  <a:pt x="0" y="0"/>
                </a:lnTo>
                <a:lnTo>
                  <a:pt x="0" y="507491"/>
                </a:lnTo>
                <a:lnTo>
                  <a:pt x="505968" y="507491"/>
                </a:lnTo>
                <a:lnTo>
                  <a:pt x="505968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86800" y="4860035"/>
            <a:ext cx="119380" cy="119380"/>
          </a:xfrm>
          <a:custGeom>
            <a:avLst/>
            <a:gdLst/>
            <a:ahLst/>
            <a:cxnLst/>
            <a:rect l="l" t="t" r="r" b="b"/>
            <a:pathLst>
              <a:path w="119379" h="119379">
                <a:moveTo>
                  <a:pt x="118872" y="0"/>
                </a:moveTo>
                <a:lnTo>
                  <a:pt x="0" y="0"/>
                </a:lnTo>
                <a:lnTo>
                  <a:pt x="0" y="118871"/>
                </a:lnTo>
                <a:lnTo>
                  <a:pt x="118872" y="118871"/>
                </a:lnTo>
                <a:lnTo>
                  <a:pt x="118872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Problem</a:t>
            </a:r>
            <a:r>
              <a:rPr spc="-175" dirty="0"/>
              <a:t> </a:t>
            </a:r>
            <a:r>
              <a:rPr spc="-100" dirty="0"/>
              <a:t>Statement</a:t>
            </a:r>
          </a:p>
        </p:txBody>
      </p:sp>
      <p:sp>
        <p:nvSpPr>
          <p:cNvPr id="4" name="object 4"/>
          <p:cNvSpPr/>
          <p:nvPr/>
        </p:nvSpPr>
        <p:spPr>
          <a:xfrm>
            <a:off x="216408" y="763523"/>
            <a:ext cx="8471535" cy="0"/>
          </a:xfrm>
          <a:custGeom>
            <a:avLst/>
            <a:gdLst/>
            <a:ahLst/>
            <a:cxnLst/>
            <a:rect l="l" t="t" r="r" b="b"/>
            <a:pathLst>
              <a:path w="8471535">
                <a:moveTo>
                  <a:pt x="0" y="0"/>
                </a:moveTo>
                <a:lnTo>
                  <a:pt x="8471154" y="0"/>
                </a:lnTo>
              </a:path>
            </a:pathLst>
          </a:custGeom>
          <a:ln w="9144">
            <a:solidFill>
              <a:srgbClr val="00492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433816" y="102107"/>
            <a:ext cx="506095" cy="508000"/>
          </a:xfrm>
          <a:custGeom>
            <a:avLst/>
            <a:gdLst/>
            <a:ahLst/>
            <a:cxnLst/>
            <a:rect l="l" t="t" r="r" b="b"/>
            <a:pathLst>
              <a:path w="506095" h="508000">
                <a:moveTo>
                  <a:pt x="505968" y="0"/>
                </a:moveTo>
                <a:lnTo>
                  <a:pt x="0" y="0"/>
                </a:lnTo>
                <a:lnTo>
                  <a:pt x="0" y="507491"/>
                </a:lnTo>
                <a:lnTo>
                  <a:pt x="505968" y="507491"/>
                </a:lnTo>
                <a:lnTo>
                  <a:pt x="505968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3334" y="912812"/>
          <a:ext cx="8228965" cy="3990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23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13280">
                <a:tc>
                  <a:txBody>
                    <a:bodyPr/>
                    <a:lstStyle/>
                    <a:p>
                      <a:pPr marL="548640" indent="-317500">
                        <a:lnSpc>
                          <a:spcPct val="100000"/>
                        </a:lnSpc>
                        <a:spcBef>
                          <a:spcPts val="765"/>
                        </a:spcBef>
                        <a:buFont typeface="Times New Roman"/>
                        <a:buChar char="●"/>
                        <a:tabLst>
                          <a:tab pos="548640" algn="l"/>
                        </a:tabLst>
                      </a:pPr>
                      <a:r>
                        <a:rPr sz="1400" b="1" spc="-1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Purpose: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548640" marR="250190">
                        <a:lnSpc>
                          <a:spcPct val="114999"/>
                        </a:lnSpc>
                      </a:pPr>
                      <a:r>
                        <a:rPr sz="1400" spc="-2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Lack</a:t>
                      </a:r>
                      <a:r>
                        <a:rPr sz="1400" spc="4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4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6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dedicated</a:t>
                      </a:r>
                      <a:r>
                        <a:rPr sz="1400" spc="4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platform</a:t>
                      </a:r>
                      <a:r>
                        <a:rPr sz="1400" spc="3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for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authentic</a:t>
                      </a:r>
                      <a:r>
                        <a:rPr sz="1400" spc="1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handcrafted</a:t>
                      </a:r>
                      <a:r>
                        <a:rPr sz="1400" spc="8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artifacts,</a:t>
                      </a:r>
                      <a:r>
                        <a:rPr sz="1400" spc="6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limiting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artisans’</a:t>
                      </a:r>
                      <a:r>
                        <a:rPr sz="1400" spc="-2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reach</a:t>
                      </a:r>
                      <a:r>
                        <a:rPr sz="1400" spc="-1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-2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buyers’ </a:t>
                      </a:r>
                      <a:r>
                        <a:rPr sz="1400" spc="-4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access</a:t>
                      </a:r>
                      <a:r>
                        <a:rPr sz="1400" spc="-1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2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to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unique</a:t>
                      </a:r>
                      <a:r>
                        <a:rPr sz="1400" spc="1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pieces</a:t>
                      </a:r>
                      <a:r>
                        <a:rPr sz="1400" spc="-10" dirty="0">
                          <a:solidFill>
                            <a:srgbClr val="002417"/>
                          </a:solidFill>
                          <a:latin typeface="Arial MT"/>
                          <a:cs typeface="Arial MT"/>
                        </a:rPr>
                        <a:t>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9715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9275" indent="-316865">
                        <a:lnSpc>
                          <a:spcPct val="100000"/>
                        </a:lnSpc>
                        <a:spcBef>
                          <a:spcPts val="765"/>
                        </a:spcBef>
                        <a:buFont typeface="Times New Roman"/>
                        <a:buChar char="●"/>
                        <a:tabLst>
                          <a:tab pos="549275" algn="l"/>
                        </a:tabLst>
                      </a:pPr>
                      <a:r>
                        <a:rPr sz="1400" b="1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Market</a:t>
                      </a:r>
                      <a:r>
                        <a:rPr sz="1400" b="1" spc="-35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3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Gaps/Customer </a:t>
                      </a:r>
                      <a:r>
                        <a:rPr sz="1400" b="1" spc="-1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Pain Points: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1006475" marR="410209" lvl="1" indent="-317500">
                        <a:lnSpc>
                          <a:spcPct val="114999"/>
                        </a:lnSpc>
                        <a:buFont typeface="Times New Roman"/>
                        <a:buChar char="○"/>
                        <a:tabLst>
                          <a:tab pos="1006475" algn="l"/>
                        </a:tabLst>
                      </a:pPr>
                      <a:r>
                        <a:rPr sz="1400" spc="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Difficult</a:t>
                      </a:r>
                      <a:r>
                        <a:rPr sz="1400" spc="5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5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400" spc="7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find</a:t>
                      </a:r>
                      <a:r>
                        <a:rPr sz="1400" spc="8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verified,</a:t>
                      </a:r>
                      <a:r>
                        <a:rPr sz="1400" spc="1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high-</a:t>
                      </a:r>
                      <a:r>
                        <a:rPr sz="1400" spc="-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quality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handcrafted</a:t>
                      </a:r>
                      <a:r>
                        <a:rPr sz="1400" spc="9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artifacts.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1006475" lvl="1" indent="-31686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Times New Roman"/>
                        <a:buChar char="○"/>
                        <a:tabLst>
                          <a:tab pos="1006475" algn="l"/>
                        </a:tabLst>
                      </a:pP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Artisans</a:t>
                      </a:r>
                      <a:r>
                        <a:rPr sz="1400" spc="15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struggle</a:t>
                      </a:r>
                      <a:r>
                        <a:rPr sz="1400" spc="1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7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1400" spc="15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digital</a:t>
                      </a:r>
                      <a:r>
                        <a:rPr sz="1400" spc="12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presence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10064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2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fair</a:t>
                      </a:r>
                      <a:r>
                        <a:rPr sz="1400" spc="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pricing.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1006475" marR="339725" lvl="1" indent="-317500">
                        <a:lnSpc>
                          <a:spcPct val="114999"/>
                        </a:lnSpc>
                        <a:spcBef>
                          <a:spcPts val="5"/>
                        </a:spcBef>
                        <a:buFont typeface="Times New Roman"/>
                        <a:buChar char="○"/>
                        <a:tabLst>
                          <a:tab pos="1006475" algn="l"/>
                        </a:tabLst>
                      </a:pPr>
                      <a:r>
                        <a:rPr sz="1400" spc="-2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Lack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of personalization</a:t>
                      </a:r>
                      <a:r>
                        <a:rPr sz="1400" spc="-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exclusive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shopping</a:t>
                      </a:r>
                      <a:r>
                        <a:rPr sz="1400" spc="8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experiences.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9715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7695">
                <a:tc>
                  <a:txBody>
                    <a:bodyPr/>
                    <a:lstStyle/>
                    <a:p>
                      <a:pPr marL="548640" indent="-317500">
                        <a:lnSpc>
                          <a:spcPct val="100000"/>
                        </a:lnSpc>
                        <a:spcBef>
                          <a:spcPts val="765"/>
                        </a:spcBef>
                        <a:buFont typeface="Times New Roman"/>
                        <a:buChar char="●"/>
                        <a:tabLst>
                          <a:tab pos="548640" algn="l"/>
                        </a:tabLst>
                      </a:pPr>
                      <a:r>
                        <a:rPr sz="1400" b="1" spc="-1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Current</a:t>
                      </a:r>
                      <a:r>
                        <a:rPr sz="1400" b="1" spc="-4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Solutions: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1005840" marR="126364" lvl="1" indent="-317500">
                        <a:lnSpc>
                          <a:spcPct val="114999"/>
                        </a:lnSpc>
                        <a:buFont typeface="Times New Roman"/>
                        <a:buChar char="○"/>
                        <a:tabLst>
                          <a:tab pos="1005840" algn="l"/>
                        </a:tabLst>
                      </a:pPr>
                      <a:r>
                        <a:rPr sz="1400" spc="-2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Generic</a:t>
                      </a:r>
                      <a:r>
                        <a:rPr sz="1400" spc="3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e-</a:t>
                      </a:r>
                      <a:r>
                        <a:rPr sz="1400" spc="-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commerce</a:t>
                      </a:r>
                      <a:r>
                        <a:rPr sz="1400" spc="1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platforms</a:t>
                      </a:r>
                      <a:r>
                        <a:rPr sz="1400" spc="5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7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1400" spc="8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limited</a:t>
                      </a:r>
                      <a:r>
                        <a:rPr sz="1400" spc="8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artisan</a:t>
                      </a:r>
                      <a:r>
                        <a:rPr sz="1400" spc="8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representation.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1005840" marR="116205" lvl="1" indent="-317500">
                        <a:lnSpc>
                          <a:spcPct val="114999"/>
                        </a:lnSpc>
                        <a:buFont typeface="Times New Roman"/>
                        <a:buChar char="○"/>
                        <a:tabLst>
                          <a:tab pos="1005840" algn="l"/>
                        </a:tabLst>
                      </a:pP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Local</a:t>
                      </a:r>
                      <a:r>
                        <a:rPr sz="1400" spc="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markets</a:t>
                      </a:r>
                      <a:r>
                        <a:rPr sz="1400" spc="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7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1400" spc="3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restricted</a:t>
                      </a:r>
                      <a:r>
                        <a:rPr sz="1400" spc="3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reach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1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inconsistent</a:t>
                      </a:r>
                      <a:r>
                        <a:rPr sz="1400" spc="4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quality.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9715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9275" indent="-316865">
                        <a:lnSpc>
                          <a:spcPct val="100000"/>
                        </a:lnSpc>
                        <a:spcBef>
                          <a:spcPts val="765"/>
                        </a:spcBef>
                        <a:buFont typeface="Times New Roman"/>
                        <a:buChar char="●"/>
                        <a:tabLst>
                          <a:tab pos="549275" algn="l"/>
                        </a:tabLst>
                      </a:pPr>
                      <a:r>
                        <a:rPr sz="1400" b="1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Why </a:t>
                      </a:r>
                      <a:r>
                        <a:rPr sz="1400" b="1" spc="-5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1400" b="1" spc="-2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 Solving</a:t>
                      </a:r>
                      <a:r>
                        <a:rPr sz="1400" b="1" spc="1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This</a:t>
                      </a:r>
                      <a:r>
                        <a:rPr sz="1400" b="1" spc="1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Important?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1006475" marR="520065" lvl="1" indent="-317500">
                        <a:lnSpc>
                          <a:spcPct val="114999"/>
                        </a:lnSpc>
                        <a:buFont typeface="Times New Roman"/>
                        <a:buChar char="○"/>
                        <a:tabLst>
                          <a:tab pos="1006475" algn="l"/>
                        </a:tabLst>
                      </a:pP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Provides artisans </a:t>
                      </a:r>
                      <a:r>
                        <a:rPr sz="1400" spc="7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1400" spc="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fair</a:t>
                      </a:r>
                      <a:r>
                        <a:rPr sz="1400" spc="-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trade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opportunities</a:t>
                      </a:r>
                      <a:r>
                        <a:rPr sz="1400" spc="13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14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global</a:t>
                      </a:r>
                      <a:r>
                        <a:rPr sz="1400" spc="10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exposure.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1006475" marR="245745" lvl="1" indent="-317500">
                        <a:lnSpc>
                          <a:spcPct val="114999"/>
                        </a:lnSpc>
                        <a:buFont typeface="Times New Roman"/>
                        <a:buChar char="○"/>
                        <a:tabLst>
                          <a:tab pos="1006475" algn="l"/>
                        </a:tabLst>
                      </a:pPr>
                      <a:r>
                        <a:rPr sz="1400" spc="-2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Gives</a:t>
                      </a:r>
                      <a:r>
                        <a:rPr sz="1400" spc="-2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customers</a:t>
                      </a:r>
                      <a:r>
                        <a:rPr sz="1400" spc="-2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3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access</a:t>
                      </a:r>
                      <a:r>
                        <a:rPr sz="1400" spc="-3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5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400" spc="-4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unique,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verified,</a:t>
                      </a:r>
                      <a:r>
                        <a:rPr sz="1400" spc="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-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personalized</a:t>
                      </a:r>
                      <a:r>
                        <a:rPr sz="1400" spc="-5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handcrafted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10064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10" dirty="0">
                          <a:solidFill>
                            <a:srgbClr val="00160D"/>
                          </a:solidFill>
                          <a:latin typeface="Arial MT"/>
                          <a:cs typeface="Arial MT"/>
                        </a:rPr>
                        <a:t>decor.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9715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86800" y="4860035"/>
            <a:ext cx="119380" cy="119380"/>
          </a:xfrm>
          <a:custGeom>
            <a:avLst/>
            <a:gdLst/>
            <a:ahLst/>
            <a:cxnLst/>
            <a:rect l="l" t="t" r="r" b="b"/>
            <a:pathLst>
              <a:path w="119379" h="119379">
                <a:moveTo>
                  <a:pt x="118872" y="0"/>
                </a:moveTo>
                <a:lnTo>
                  <a:pt x="0" y="0"/>
                </a:lnTo>
                <a:lnTo>
                  <a:pt x="0" y="118871"/>
                </a:lnTo>
                <a:lnTo>
                  <a:pt x="118872" y="118871"/>
                </a:lnTo>
                <a:lnTo>
                  <a:pt x="118872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Business</a:t>
            </a:r>
            <a:r>
              <a:rPr spc="-150" dirty="0"/>
              <a:t> </a:t>
            </a:r>
            <a:r>
              <a:rPr spc="-125" dirty="0"/>
              <a:t>Idea</a:t>
            </a:r>
            <a:r>
              <a:rPr spc="-145" dirty="0"/>
              <a:t> </a:t>
            </a:r>
            <a:r>
              <a:rPr spc="-120" dirty="0"/>
              <a:t>and</a:t>
            </a:r>
            <a:r>
              <a:rPr spc="-135" dirty="0"/>
              <a:t> </a:t>
            </a:r>
            <a:r>
              <a:rPr spc="-70" dirty="0"/>
              <a:t>Solution</a:t>
            </a:r>
          </a:p>
        </p:txBody>
      </p:sp>
      <p:sp>
        <p:nvSpPr>
          <p:cNvPr id="4" name="object 4"/>
          <p:cNvSpPr/>
          <p:nvPr/>
        </p:nvSpPr>
        <p:spPr>
          <a:xfrm>
            <a:off x="216408" y="763523"/>
            <a:ext cx="8471535" cy="0"/>
          </a:xfrm>
          <a:custGeom>
            <a:avLst/>
            <a:gdLst/>
            <a:ahLst/>
            <a:cxnLst/>
            <a:rect l="l" t="t" r="r" b="b"/>
            <a:pathLst>
              <a:path w="8471535">
                <a:moveTo>
                  <a:pt x="0" y="0"/>
                </a:moveTo>
                <a:lnTo>
                  <a:pt x="8471154" y="0"/>
                </a:lnTo>
              </a:path>
            </a:pathLst>
          </a:custGeom>
          <a:ln w="9144">
            <a:solidFill>
              <a:srgbClr val="00492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9026" y="935863"/>
            <a:ext cx="7878445" cy="384682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42900" indent="-323215">
              <a:lnSpc>
                <a:spcPct val="100000"/>
              </a:lnSpc>
              <a:spcBef>
                <a:spcPts val="375"/>
              </a:spcBef>
              <a:buFont typeface="Times New Roman"/>
              <a:buChar char="●"/>
              <a:tabLst>
                <a:tab pos="342900" algn="l"/>
              </a:tabLst>
            </a:pPr>
            <a:r>
              <a:rPr sz="1500" b="1" dirty="0">
                <a:solidFill>
                  <a:srgbClr val="00492D"/>
                </a:solidFill>
                <a:latin typeface="Arial"/>
                <a:cs typeface="Arial"/>
              </a:rPr>
              <a:t>Our</a:t>
            </a:r>
            <a:r>
              <a:rPr sz="1500" b="1" spc="-7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92D"/>
                </a:solidFill>
                <a:latin typeface="Arial"/>
                <a:cs typeface="Arial"/>
              </a:rPr>
              <a:t>Solution:</a:t>
            </a:r>
            <a:endParaRPr sz="1500">
              <a:latin typeface="Arial"/>
              <a:cs typeface="Arial"/>
            </a:endParaRPr>
          </a:p>
          <a:p>
            <a:pPr marL="342900" marR="5080">
              <a:lnSpc>
                <a:spcPct val="114700"/>
              </a:lnSpc>
              <a:spcBef>
                <a:spcPts val="10"/>
              </a:spcBef>
            </a:pPr>
            <a:r>
              <a:rPr sz="1500" spc="90" dirty="0">
                <a:solidFill>
                  <a:srgbClr val="00492D"/>
                </a:solidFill>
                <a:latin typeface="Arial MT"/>
                <a:cs typeface="Arial MT"/>
              </a:rPr>
              <a:t>A</a:t>
            </a:r>
            <a:r>
              <a:rPr sz="1500" spc="-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492D"/>
                </a:solidFill>
                <a:latin typeface="Arial MT"/>
                <a:cs typeface="Arial MT"/>
              </a:rPr>
              <a:t>curated online marketplace</a:t>
            </a:r>
            <a:r>
              <a:rPr sz="1500" spc="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492D"/>
                </a:solidFill>
                <a:latin typeface="Arial MT"/>
                <a:cs typeface="Arial MT"/>
              </a:rPr>
              <a:t>connecting</a:t>
            </a:r>
            <a:r>
              <a:rPr sz="1500" spc="-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492D"/>
                </a:solidFill>
                <a:latin typeface="Arial MT"/>
                <a:cs typeface="Arial MT"/>
              </a:rPr>
              <a:t>artisans</a:t>
            </a:r>
            <a:r>
              <a:rPr sz="1500" spc="1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500" spc="70" dirty="0">
                <a:solidFill>
                  <a:srgbClr val="00492D"/>
                </a:solidFill>
                <a:latin typeface="Arial MT"/>
                <a:cs typeface="Arial MT"/>
              </a:rPr>
              <a:t>with</a:t>
            </a:r>
            <a:r>
              <a:rPr sz="1500" dirty="0">
                <a:solidFill>
                  <a:srgbClr val="00492D"/>
                </a:solidFill>
                <a:latin typeface="Arial MT"/>
                <a:cs typeface="Arial MT"/>
              </a:rPr>
              <a:t> buyers, ensuring authenticity,</a:t>
            </a:r>
            <a:r>
              <a:rPr sz="1500" spc="-1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00492D"/>
                </a:solidFill>
                <a:latin typeface="Arial MT"/>
                <a:cs typeface="Arial MT"/>
              </a:rPr>
              <a:t>fair </a:t>
            </a:r>
            <a:r>
              <a:rPr sz="1500" dirty="0">
                <a:solidFill>
                  <a:srgbClr val="00492D"/>
                </a:solidFill>
                <a:latin typeface="Arial MT"/>
                <a:cs typeface="Arial MT"/>
              </a:rPr>
              <a:t>pricing,</a:t>
            </a:r>
            <a:r>
              <a:rPr sz="1500" spc="-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492D"/>
                </a:solidFill>
                <a:latin typeface="Arial MT"/>
                <a:cs typeface="Arial MT"/>
              </a:rPr>
              <a:t>and</a:t>
            </a:r>
            <a:r>
              <a:rPr sz="1500" spc="-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492D"/>
                </a:solidFill>
                <a:latin typeface="Arial MT"/>
                <a:cs typeface="Arial MT"/>
              </a:rPr>
              <a:t>a</a:t>
            </a:r>
            <a:r>
              <a:rPr sz="1500" spc="-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492D"/>
                </a:solidFill>
                <a:latin typeface="Arial MT"/>
                <a:cs typeface="Arial MT"/>
              </a:rPr>
              <a:t>premium</a:t>
            </a:r>
            <a:r>
              <a:rPr sz="1500" spc="-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492D"/>
                </a:solidFill>
                <a:latin typeface="Arial MT"/>
                <a:cs typeface="Arial MT"/>
              </a:rPr>
              <a:t>shopping </a:t>
            </a:r>
            <a:r>
              <a:rPr sz="1500" spc="-10" dirty="0">
                <a:solidFill>
                  <a:srgbClr val="00492D"/>
                </a:solidFill>
                <a:latin typeface="Arial MT"/>
                <a:cs typeface="Arial MT"/>
              </a:rPr>
              <a:t>experience.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500">
              <a:latin typeface="Arial MT"/>
              <a:cs typeface="Arial MT"/>
            </a:endParaRPr>
          </a:p>
          <a:p>
            <a:pPr marL="342900" indent="-330200">
              <a:lnSpc>
                <a:spcPct val="100000"/>
              </a:lnSpc>
              <a:spcBef>
                <a:spcPts val="5"/>
              </a:spcBef>
              <a:buFont typeface="Times New Roman"/>
              <a:buChar char="●"/>
              <a:tabLst>
                <a:tab pos="342900" algn="l"/>
              </a:tabLst>
            </a:pPr>
            <a:r>
              <a:rPr sz="1600" b="1" spc="-35" dirty="0">
                <a:solidFill>
                  <a:srgbClr val="00492D"/>
                </a:solidFill>
                <a:latin typeface="Arial"/>
                <a:cs typeface="Arial"/>
              </a:rPr>
              <a:t>Product/Service </a:t>
            </a:r>
            <a:r>
              <a:rPr sz="1600" b="1" spc="-10" dirty="0">
                <a:solidFill>
                  <a:srgbClr val="00492D"/>
                </a:solidFill>
                <a:latin typeface="Arial"/>
                <a:cs typeface="Arial"/>
              </a:rPr>
              <a:t>Description:</a:t>
            </a:r>
            <a:endParaRPr sz="1600">
              <a:latin typeface="Arial"/>
              <a:cs typeface="Arial"/>
            </a:endParaRPr>
          </a:p>
          <a:p>
            <a:pPr marL="800100" lvl="1" indent="-330200">
              <a:lnSpc>
                <a:spcPct val="100000"/>
              </a:lnSpc>
              <a:spcBef>
                <a:spcPts val="290"/>
              </a:spcBef>
              <a:buFont typeface="Times New Roman"/>
              <a:buChar char="○"/>
              <a:tabLst>
                <a:tab pos="800100" algn="l"/>
              </a:tabLst>
            </a:pP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Verified</a:t>
            </a:r>
            <a:r>
              <a:rPr sz="1600" spc="9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handcrafted</a:t>
            </a:r>
            <a:r>
              <a:rPr sz="1600" spc="12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regional</a:t>
            </a:r>
            <a:r>
              <a:rPr sz="1600" spc="10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492D"/>
                </a:solidFill>
                <a:latin typeface="Arial MT"/>
                <a:cs typeface="Arial MT"/>
              </a:rPr>
              <a:t>artifacts.</a:t>
            </a:r>
            <a:endParaRPr sz="1600">
              <a:latin typeface="Arial MT"/>
              <a:cs typeface="Arial MT"/>
            </a:endParaRPr>
          </a:p>
          <a:p>
            <a:pPr marL="800100" lvl="1" indent="-330200">
              <a:lnSpc>
                <a:spcPct val="100000"/>
              </a:lnSpc>
              <a:spcBef>
                <a:spcPts val="285"/>
              </a:spcBef>
              <a:buFont typeface="Times New Roman"/>
              <a:buChar char="○"/>
              <a:tabLst>
                <a:tab pos="800100" algn="l"/>
              </a:tabLst>
            </a:pP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Bidding</a:t>
            </a:r>
            <a:r>
              <a:rPr sz="1600" spc="8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feature</a:t>
            </a:r>
            <a:r>
              <a:rPr sz="1600" spc="7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for</a:t>
            </a:r>
            <a:r>
              <a:rPr sz="1600" spc="7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exclusive</a:t>
            </a:r>
            <a:r>
              <a:rPr sz="1600" spc="8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492D"/>
                </a:solidFill>
                <a:latin typeface="Arial MT"/>
                <a:cs typeface="Arial MT"/>
              </a:rPr>
              <a:t>collectibles.</a:t>
            </a:r>
            <a:endParaRPr sz="1600">
              <a:latin typeface="Arial MT"/>
              <a:cs typeface="Arial MT"/>
            </a:endParaRPr>
          </a:p>
          <a:p>
            <a:pPr marL="800100" lvl="1" indent="-330200">
              <a:lnSpc>
                <a:spcPct val="100000"/>
              </a:lnSpc>
              <a:spcBef>
                <a:spcPts val="290"/>
              </a:spcBef>
              <a:buFont typeface="Times New Roman"/>
              <a:buChar char="○"/>
              <a:tabLst>
                <a:tab pos="800100" algn="l"/>
              </a:tabLst>
            </a:pP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Personalized</a:t>
            </a:r>
            <a:r>
              <a:rPr sz="1600" spc="-4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00492D"/>
                </a:solidFill>
                <a:latin typeface="Arial MT"/>
                <a:cs typeface="Arial MT"/>
              </a:rPr>
              <a:t>gift</a:t>
            </a:r>
            <a:r>
              <a:rPr sz="1600" spc="-4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packaging</a:t>
            </a:r>
            <a:r>
              <a:rPr sz="1600" spc="-4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and</a:t>
            </a:r>
            <a:r>
              <a:rPr sz="1600" spc="-4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492D"/>
                </a:solidFill>
                <a:latin typeface="Arial MT"/>
                <a:cs typeface="Arial MT"/>
              </a:rPr>
              <a:t>customization.</a:t>
            </a:r>
            <a:endParaRPr sz="1600">
              <a:latin typeface="Arial MT"/>
              <a:cs typeface="Arial MT"/>
            </a:endParaRPr>
          </a:p>
          <a:p>
            <a:pPr marL="800100" lvl="1" indent="-330200">
              <a:lnSpc>
                <a:spcPct val="100000"/>
              </a:lnSpc>
              <a:spcBef>
                <a:spcPts val="290"/>
              </a:spcBef>
              <a:buFont typeface="Times New Roman"/>
              <a:buChar char="○"/>
              <a:tabLst>
                <a:tab pos="800100" algn="l"/>
              </a:tabLst>
            </a:pP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Subscription</a:t>
            </a:r>
            <a:r>
              <a:rPr sz="1600" spc="4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model</a:t>
            </a:r>
            <a:r>
              <a:rPr sz="1600" spc="4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for</a:t>
            </a:r>
            <a:r>
              <a:rPr sz="1600" spc="3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early</a:t>
            </a:r>
            <a:r>
              <a:rPr sz="1600" spc="4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spc="-45" dirty="0">
                <a:solidFill>
                  <a:srgbClr val="00492D"/>
                </a:solidFill>
                <a:latin typeface="Arial MT"/>
                <a:cs typeface="Arial MT"/>
              </a:rPr>
              <a:t>access</a:t>
            </a:r>
            <a:r>
              <a:rPr sz="1600" spc="3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and</a:t>
            </a:r>
            <a:r>
              <a:rPr sz="1600" spc="4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492D"/>
                </a:solidFill>
                <a:latin typeface="Arial MT"/>
                <a:cs typeface="Arial MT"/>
              </a:rPr>
              <a:t>discounts.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655"/>
              </a:spcBef>
              <a:buClr>
                <a:srgbClr val="00492D"/>
              </a:buClr>
              <a:buFont typeface="Times New Roman"/>
              <a:buChar char="○"/>
            </a:pPr>
            <a:endParaRPr sz="1600">
              <a:latin typeface="Arial MT"/>
              <a:cs typeface="Arial MT"/>
            </a:endParaRPr>
          </a:p>
          <a:p>
            <a:pPr marL="342900" indent="-330200">
              <a:lnSpc>
                <a:spcPct val="100000"/>
              </a:lnSpc>
              <a:buFont typeface="Times New Roman"/>
              <a:buChar char="●"/>
              <a:tabLst>
                <a:tab pos="342900" algn="l"/>
              </a:tabLst>
            </a:pPr>
            <a:r>
              <a:rPr sz="1600" b="1" spc="-10" dirty="0">
                <a:solidFill>
                  <a:srgbClr val="00492D"/>
                </a:solidFill>
                <a:latin typeface="Arial"/>
                <a:cs typeface="Arial"/>
              </a:rPr>
              <a:t>Unique</a:t>
            </a:r>
            <a:r>
              <a:rPr sz="1600" b="1" spc="-8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492D"/>
                </a:solidFill>
                <a:latin typeface="Arial"/>
                <a:cs typeface="Arial"/>
              </a:rPr>
              <a:t>Selling</a:t>
            </a:r>
            <a:r>
              <a:rPr sz="1600" b="1" spc="-7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0492D"/>
                </a:solidFill>
                <a:latin typeface="Arial"/>
                <a:cs typeface="Arial"/>
              </a:rPr>
              <a:t>Proposition:</a:t>
            </a:r>
            <a:endParaRPr sz="1600">
              <a:latin typeface="Arial"/>
              <a:cs typeface="Arial"/>
            </a:endParaRPr>
          </a:p>
          <a:p>
            <a:pPr marL="800100" lvl="1" indent="-330200">
              <a:lnSpc>
                <a:spcPct val="100000"/>
              </a:lnSpc>
              <a:spcBef>
                <a:spcPts val="290"/>
              </a:spcBef>
              <a:buFont typeface="Times New Roman"/>
              <a:buChar char="○"/>
              <a:tabLst>
                <a:tab pos="800100" algn="l"/>
              </a:tabLst>
            </a:pPr>
            <a:r>
              <a:rPr sz="1600" spc="-10" dirty="0">
                <a:solidFill>
                  <a:srgbClr val="00492D"/>
                </a:solidFill>
                <a:latin typeface="Arial MT"/>
                <a:cs typeface="Arial MT"/>
              </a:rPr>
              <a:t>Exclusive,</a:t>
            </a:r>
            <a:r>
              <a:rPr sz="1600" spc="9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authenticated</a:t>
            </a:r>
            <a:r>
              <a:rPr sz="1600" spc="10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artifacts</a:t>
            </a:r>
            <a:r>
              <a:rPr sz="1600" spc="114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directly</a:t>
            </a:r>
            <a:r>
              <a:rPr sz="1600" spc="8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from</a:t>
            </a:r>
            <a:r>
              <a:rPr sz="1600" spc="10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492D"/>
                </a:solidFill>
                <a:latin typeface="Arial MT"/>
                <a:cs typeface="Arial MT"/>
              </a:rPr>
              <a:t>artisans.</a:t>
            </a:r>
            <a:endParaRPr sz="1600">
              <a:latin typeface="Arial MT"/>
              <a:cs typeface="Arial MT"/>
            </a:endParaRPr>
          </a:p>
          <a:p>
            <a:pPr marL="800100" lvl="1" indent="-330200">
              <a:lnSpc>
                <a:spcPct val="100000"/>
              </a:lnSpc>
              <a:spcBef>
                <a:spcPts val="290"/>
              </a:spcBef>
              <a:buFont typeface="Times New Roman"/>
              <a:buChar char="○"/>
              <a:tabLst>
                <a:tab pos="800100" algn="l"/>
              </a:tabLst>
            </a:pPr>
            <a:r>
              <a:rPr sz="1600" spc="60" dirty="0">
                <a:solidFill>
                  <a:srgbClr val="00492D"/>
                </a:solidFill>
                <a:latin typeface="Arial MT"/>
                <a:cs typeface="Arial MT"/>
              </a:rPr>
              <a:t>AI-</a:t>
            </a: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powered</a:t>
            </a:r>
            <a:r>
              <a:rPr sz="1600" spc="9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personalized</a:t>
            </a:r>
            <a:r>
              <a:rPr sz="1600" spc="1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shopping</a:t>
            </a:r>
            <a:r>
              <a:rPr sz="1600" spc="10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492D"/>
                </a:solidFill>
                <a:latin typeface="Arial MT"/>
                <a:cs typeface="Arial MT"/>
              </a:rPr>
              <a:t>recommendations.</a:t>
            </a:r>
            <a:endParaRPr sz="1600">
              <a:latin typeface="Arial MT"/>
              <a:cs typeface="Arial MT"/>
            </a:endParaRPr>
          </a:p>
          <a:p>
            <a:pPr marL="800100" lvl="1" indent="-330200">
              <a:lnSpc>
                <a:spcPct val="100000"/>
              </a:lnSpc>
              <a:spcBef>
                <a:spcPts val="285"/>
              </a:spcBef>
              <a:buFont typeface="Times New Roman"/>
              <a:buChar char="○"/>
              <a:tabLst>
                <a:tab pos="800100" algn="l"/>
              </a:tabLst>
            </a:pP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Strong</a:t>
            </a:r>
            <a:r>
              <a:rPr sz="1600" spc="6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influencer</a:t>
            </a:r>
            <a:r>
              <a:rPr sz="1600" spc="7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and</a:t>
            </a:r>
            <a:r>
              <a:rPr sz="1600" spc="6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interior</a:t>
            </a:r>
            <a:r>
              <a:rPr sz="1600" spc="7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492D"/>
                </a:solidFill>
                <a:latin typeface="Arial MT"/>
                <a:cs typeface="Arial MT"/>
              </a:rPr>
              <a:t>designer</a:t>
            </a:r>
            <a:r>
              <a:rPr sz="1600" spc="7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492D"/>
                </a:solidFill>
                <a:latin typeface="Arial MT"/>
                <a:cs typeface="Arial MT"/>
              </a:rPr>
              <a:t>collaborations.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33816" y="102107"/>
            <a:ext cx="506095" cy="508000"/>
          </a:xfrm>
          <a:custGeom>
            <a:avLst/>
            <a:gdLst/>
            <a:ahLst/>
            <a:cxnLst/>
            <a:rect l="l" t="t" r="r" b="b"/>
            <a:pathLst>
              <a:path w="506095" h="508000">
                <a:moveTo>
                  <a:pt x="505968" y="0"/>
                </a:moveTo>
                <a:lnTo>
                  <a:pt x="0" y="0"/>
                </a:lnTo>
                <a:lnTo>
                  <a:pt x="0" y="507491"/>
                </a:lnTo>
                <a:lnTo>
                  <a:pt x="505968" y="507491"/>
                </a:lnTo>
                <a:lnTo>
                  <a:pt x="505968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86800" y="4860035"/>
            <a:ext cx="119380" cy="119380"/>
          </a:xfrm>
          <a:custGeom>
            <a:avLst/>
            <a:gdLst/>
            <a:ahLst/>
            <a:cxnLst/>
            <a:rect l="l" t="t" r="r" b="b"/>
            <a:pathLst>
              <a:path w="119379" h="119379">
                <a:moveTo>
                  <a:pt x="118872" y="0"/>
                </a:moveTo>
                <a:lnTo>
                  <a:pt x="0" y="0"/>
                </a:lnTo>
                <a:lnTo>
                  <a:pt x="0" y="118871"/>
                </a:lnTo>
                <a:lnTo>
                  <a:pt x="118872" y="118871"/>
                </a:lnTo>
                <a:lnTo>
                  <a:pt x="118872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Business</a:t>
            </a:r>
            <a:r>
              <a:rPr spc="-150" dirty="0"/>
              <a:t> </a:t>
            </a:r>
            <a:r>
              <a:rPr spc="-125" dirty="0"/>
              <a:t>Idea</a:t>
            </a:r>
            <a:r>
              <a:rPr spc="-145" dirty="0"/>
              <a:t> </a:t>
            </a:r>
            <a:r>
              <a:rPr spc="-120" dirty="0"/>
              <a:t>and</a:t>
            </a:r>
            <a:r>
              <a:rPr spc="-135" dirty="0"/>
              <a:t> </a:t>
            </a:r>
            <a:r>
              <a:rPr spc="-70" dirty="0"/>
              <a:t>Solution</a:t>
            </a:r>
          </a:p>
        </p:txBody>
      </p:sp>
      <p:sp>
        <p:nvSpPr>
          <p:cNvPr id="4" name="object 4"/>
          <p:cNvSpPr/>
          <p:nvPr/>
        </p:nvSpPr>
        <p:spPr>
          <a:xfrm>
            <a:off x="216408" y="763523"/>
            <a:ext cx="8471535" cy="0"/>
          </a:xfrm>
          <a:custGeom>
            <a:avLst/>
            <a:gdLst/>
            <a:ahLst/>
            <a:cxnLst/>
            <a:rect l="l" t="t" r="r" b="b"/>
            <a:pathLst>
              <a:path w="8471535">
                <a:moveTo>
                  <a:pt x="0" y="0"/>
                </a:moveTo>
                <a:lnTo>
                  <a:pt x="8471154" y="0"/>
                </a:lnTo>
              </a:path>
            </a:pathLst>
          </a:custGeom>
          <a:ln w="9144">
            <a:solidFill>
              <a:srgbClr val="00492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9026" y="1217803"/>
            <a:ext cx="7320915" cy="2793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indent="-330200">
              <a:lnSpc>
                <a:spcPct val="100000"/>
              </a:lnSpc>
              <a:spcBef>
                <a:spcPts val="95"/>
              </a:spcBef>
              <a:buFont typeface="Times New Roman"/>
              <a:buChar char="●"/>
              <a:tabLst>
                <a:tab pos="342900" algn="l"/>
              </a:tabLst>
            </a:pPr>
            <a:r>
              <a:rPr sz="1600" b="1" spc="-10" dirty="0">
                <a:solidFill>
                  <a:srgbClr val="00492D"/>
                </a:solidFill>
                <a:latin typeface="Arial"/>
                <a:cs typeface="Arial"/>
              </a:rPr>
              <a:t>Feature</a:t>
            </a:r>
            <a:r>
              <a:rPr sz="1600" b="1" spc="-6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492D"/>
                </a:solidFill>
                <a:latin typeface="Arial"/>
                <a:cs typeface="Arial"/>
              </a:rPr>
              <a:t>And</a:t>
            </a:r>
            <a:r>
              <a:rPr sz="1600" b="1" spc="-5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0492D"/>
                </a:solidFill>
                <a:latin typeface="Arial"/>
                <a:cs typeface="Arial"/>
              </a:rPr>
              <a:t>Benefits:</a:t>
            </a:r>
            <a:endParaRPr sz="1600">
              <a:latin typeface="Arial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300"/>
              </a:spcBef>
              <a:buSzPct val="112500"/>
              <a:buFont typeface="Times New Roman"/>
              <a:buChar char="○"/>
              <a:tabLst>
                <a:tab pos="800100" algn="l"/>
              </a:tabLst>
            </a:pPr>
            <a:r>
              <a:rPr sz="1600" b="1" spc="-25" dirty="0">
                <a:solidFill>
                  <a:srgbClr val="00492D"/>
                </a:solidFill>
                <a:latin typeface="Arial"/>
                <a:cs typeface="Arial"/>
              </a:rPr>
              <a:t>Bidding</a:t>
            </a:r>
            <a:r>
              <a:rPr sz="1600" b="1" spc="2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600" b="1" spc="-35" dirty="0">
                <a:solidFill>
                  <a:srgbClr val="00492D"/>
                </a:solidFill>
                <a:latin typeface="Arial"/>
                <a:cs typeface="Arial"/>
              </a:rPr>
              <a:t>System</a:t>
            </a:r>
            <a:r>
              <a:rPr sz="1600" b="1" spc="-3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492D"/>
                </a:solidFill>
                <a:latin typeface="Times New Roman"/>
                <a:cs typeface="Times New Roman"/>
              </a:rPr>
              <a:t>→</a:t>
            </a:r>
            <a:r>
              <a:rPr sz="1600" spc="35" dirty="0">
                <a:solidFill>
                  <a:srgbClr val="00492D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00160D"/>
                </a:solidFill>
                <a:latin typeface="Arial MT"/>
                <a:cs typeface="Arial MT"/>
              </a:rPr>
              <a:t>Access </a:t>
            </a:r>
            <a:r>
              <a:rPr sz="1600" dirty="0">
                <a:solidFill>
                  <a:srgbClr val="00160D"/>
                </a:solidFill>
                <a:latin typeface="Arial MT"/>
                <a:cs typeface="Arial MT"/>
              </a:rPr>
              <a:t>to</a:t>
            </a:r>
            <a:r>
              <a:rPr sz="1600" spc="-2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160D"/>
                </a:solidFill>
                <a:latin typeface="Arial MT"/>
                <a:cs typeface="Arial MT"/>
              </a:rPr>
              <a:t>rare,</a:t>
            </a:r>
            <a:r>
              <a:rPr sz="1600" spc="-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00160D"/>
                </a:solidFill>
                <a:latin typeface="Arial MT"/>
                <a:cs typeface="Arial MT"/>
              </a:rPr>
              <a:t>limited-</a:t>
            </a:r>
            <a:r>
              <a:rPr sz="1600" dirty="0">
                <a:solidFill>
                  <a:srgbClr val="00160D"/>
                </a:solidFill>
                <a:latin typeface="Arial MT"/>
                <a:cs typeface="Arial MT"/>
              </a:rPr>
              <a:t>edition</a:t>
            </a:r>
            <a:r>
              <a:rPr sz="1600" spc="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160D"/>
                </a:solidFill>
                <a:latin typeface="Arial MT"/>
                <a:cs typeface="Arial MT"/>
              </a:rPr>
              <a:t>artifacts.</a:t>
            </a:r>
            <a:endParaRPr sz="1600">
              <a:latin typeface="Arial MT"/>
              <a:cs typeface="Arial MT"/>
            </a:endParaRPr>
          </a:p>
          <a:p>
            <a:pPr marL="800100" lvl="1" indent="-342900">
              <a:lnSpc>
                <a:spcPct val="100000"/>
              </a:lnSpc>
              <a:spcBef>
                <a:spcPts val="285"/>
              </a:spcBef>
              <a:buSzPct val="112500"/>
              <a:buFont typeface="Times New Roman"/>
              <a:buChar char="○"/>
              <a:tabLst>
                <a:tab pos="800100" algn="l"/>
              </a:tabLst>
            </a:pPr>
            <a:r>
              <a:rPr sz="1600" b="1" spc="-45" dirty="0">
                <a:solidFill>
                  <a:srgbClr val="00492D"/>
                </a:solidFill>
                <a:latin typeface="Arial"/>
                <a:cs typeface="Arial"/>
              </a:rPr>
              <a:t>Subscription</a:t>
            </a:r>
            <a:r>
              <a:rPr sz="1600" b="1" spc="-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492D"/>
                </a:solidFill>
                <a:latin typeface="Arial"/>
                <a:cs typeface="Arial"/>
              </a:rPr>
              <a:t>Model</a:t>
            </a:r>
            <a:r>
              <a:rPr sz="1600" b="1" spc="-1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492D"/>
                </a:solidFill>
                <a:latin typeface="Times New Roman"/>
                <a:cs typeface="Times New Roman"/>
              </a:rPr>
              <a:t>→</a:t>
            </a:r>
            <a:r>
              <a:rPr sz="1600" spc="20" dirty="0">
                <a:solidFill>
                  <a:srgbClr val="0049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160D"/>
                </a:solidFill>
                <a:latin typeface="Arial MT"/>
                <a:cs typeface="Arial MT"/>
              </a:rPr>
              <a:t>Early</a:t>
            </a:r>
            <a:r>
              <a:rPr sz="1600" spc="-1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spc="-60" dirty="0">
                <a:solidFill>
                  <a:srgbClr val="00160D"/>
                </a:solidFill>
                <a:latin typeface="Arial MT"/>
                <a:cs typeface="Arial MT"/>
              </a:rPr>
              <a:t>access,</a:t>
            </a:r>
            <a:r>
              <a:rPr sz="1600" spc="-3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160D"/>
                </a:solidFill>
                <a:latin typeface="Arial MT"/>
                <a:cs typeface="Arial MT"/>
              </a:rPr>
              <a:t>discounts,</a:t>
            </a:r>
            <a:r>
              <a:rPr sz="1600" spc="-3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160D"/>
                </a:solidFill>
                <a:latin typeface="Arial MT"/>
                <a:cs typeface="Arial MT"/>
              </a:rPr>
              <a:t>and</a:t>
            </a:r>
            <a:r>
              <a:rPr sz="1600" spc="-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160D"/>
                </a:solidFill>
                <a:latin typeface="Arial MT"/>
                <a:cs typeface="Arial MT"/>
              </a:rPr>
              <a:t>free</a:t>
            </a:r>
            <a:r>
              <a:rPr sz="1600" spc="-2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160D"/>
                </a:solidFill>
                <a:latin typeface="Arial MT"/>
                <a:cs typeface="Arial MT"/>
              </a:rPr>
              <a:t>shipping.</a:t>
            </a:r>
            <a:endParaRPr sz="1600">
              <a:latin typeface="Arial MT"/>
              <a:cs typeface="Arial MT"/>
            </a:endParaRPr>
          </a:p>
          <a:p>
            <a:pPr marL="800100" lvl="1" indent="-342900">
              <a:lnSpc>
                <a:spcPct val="100000"/>
              </a:lnSpc>
              <a:spcBef>
                <a:spcPts val="290"/>
              </a:spcBef>
              <a:buSzPct val="112500"/>
              <a:buFont typeface="Times New Roman"/>
              <a:buChar char="○"/>
              <a:tabLst>
                <a:tab pos="800100" algn="l"/>
              </a:tabLst>
            </a:pPr>
            <a:r>
              <a:rPr sz="1600" b="1" spc="-30" dirty="0">
                <a:solidFill>
                  <a:srgbClr val="00492D"/>
                </a:solidFill>
                <a:latin typeface="Arial"/>
                <a:cs typeface="Arial"/>
              </a:rPr>
              <a:t>Personalized</a:t>
            </a:r>
            <a:r>
              <a:rPr sz="1600" b="1" spc="-1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600" b="1" spc="-35" dirty="0">
                <a:solidFill>
                  <a:srgbClr val="00492D"/>
                </a:solidFill>
                <a:latin typeface="Arial"/>
                <a:cs typeface="Arial"/>
              </a:rPr>
              <a:t>Packaging</a:t>
            </a:r>
            <a:r>
              <a:rPr sz="1600" b="1" spc="-2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492D"/>
                </a:solidFill>
                <a:latin typeface="Times New Roman"/>
                <a:cs typeface="Times New Roman"/>
              </a:rPr>
              <a:t>→</a:t>
            </a:r>
            <a:r>
              <a:rPr sz="1600" spc="10" dirty="0">
                <a:solidFill>
                  <a:srgbClr val="00492D"/>
                </a:solidFill>
                <a:latin typeface="Times New Roman"/>
                <a:cs typeface="Times New Roman"/>
              </a:rPr>
              <a:t> </a:t>
            </a:r>
            <a:r>
              <a:rPr sz="1600" spc="-35" dirty="0">
                <a:solidFill>
                  <a:srgbClr val="00160D"/>
                </a:solidFill>
                <a:latin typeface="Arial MT"/>
                <a:cs typeface="Arial MT"/>
              </a:rPr>
              <a:t>Enhances </a:t>
            </a:r>
            <a:r>
              <a:rPr sz="1600" spc="45" dirty="0">
                <a:solidFill>
                  <a:srgbClr val="00160D"/>
                </a:solidFill>
                <a:latin typeface="Arial MT"/>
                <a:cs typeface="Arial MT"/>
              </a:rPr>
              <a:t>gifting</a:t>
            </a:r>
            <a:r>
              <a:rPr sz="1600" spc="-2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160D"/>
                </a:solidFill>
                <a:latin typeface="Arial MT"/>
                <a:cs typeface="Arial MT"/>
              </a:rPr>
              <a:t>experience.</a:t>
            </a:r>
            <a:endParaRPr sz="1600">
              <a:latin typeface="Arial MT"/>
              <a:cs typeface="Arial MT"/>
            </a:endParaRPr>
          </a:p>
          <a:p>
            <a:pPr marL="800100" lvl="1" indent="-342900">
              <a:lnSpc>
                <a:spcPct val="100000"/>
              </a:lnSpc>
              <a:spcBef>
                <a:spcPts val="290"/>
              </a:spcBef>
              <a:buSzPct val="112500"/>
              <a:buFont typeface="Times New Roman"/>
              <a:buChar char="○"/>
              <a:tabLst>
                <a:tab pos="800100" algn="l"/>
              </a:tabLst>
            </a:pPr>
            <a:r>
              <a:rPr sz="1600" b="1" dirty="0">
                <a:solidFill>
                  <a:srgbClr val="00492D"/>
                </a:solidFill>
                <a:latin typeface="Arial"/>
                <a:cs typeface="Arial"/>
              </a:rPr>
              <a:t>AI</a:t>
            </a:r>
            <a:r>
              <a:rPr sz="1600" b="1" spc="3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600" b="1" spc="-45" dirty="0">
                <a:solidFill>
                  <a:srgbClr val="00492D"/>
                </a:solidFill>
                <a:latin typeface="Arial"/>
                <a:cs typeface="Arial"/>
              </a:rPr>
              <a:t>Recommendations</a:t>
            </a:r>
            <a:r>
              <a:rPr sz="1600" b="1" spc="2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492D"/>
                </a:solidFill>
                <a:latin typeface="Times New Roman"/>
                <a:cs typeface="Times New Roman"/>
              </a:rPr>
              <a:t>→</a:t>
            </a:r>
            <a:r>
              <a:rPr sz="1600" spc="65" dirty="0">
                <a:solidFill>
                  <a:srgbClr val="00492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160D"/>
                </a:solidFill>
                <a:latin typeface="Arial MT"/>
                <a:cs typeface="Arial MT"/>
              </a:rPr>
              <a:t>Simplifies</a:t>
            </a:r>
            <a:r>
              <a:rPr sz="1600" spc="6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160D"/>
                </a:solidFill>
                <a:latin typeface="Arial MT"/>
                <a:cs typeface="Arial MT"/>
              </a:rPr>
              <a:t>shopping</a:t>
            </a:r>
            <a:r>
              <a:rPr sz="1600" spc="2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spc="80" dirty="0">
                <a:solidFill>
                  <a:srgbClr val="00160D"/>
                </a:solidFill>
                <a:latin typeface="Arial MT"/>
                <a:cs typeface="Arial MT"/>
              </a:rPr>
              <a:t>with</a:t>
            </a:r>
            <a:r>
              <a:rPr sz="1600" spc="2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160D"/>
                </a:solidFill>
                <a:latin typeface="Arial MT"/>
                <a:cs typeface="Arial MT"/>
              </a:rPr>
              <a:t>curated</a:t>
            </a:r>
            <a:r>
              <a:rPr sz="1600" spc="3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160D"/>
                </a:solidFill>
                <a:latin typeface="Arial MT"/>
                <a:cs typeface="Arial MT"/>
              </a:rPr>
              <a:t>suggestions.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645"/>
              </a:spcBef>
              <a:buFont typeface="Times New Roman"/>
              <a:buChar char="○"/>
            </a:pPr>
            <a:endParaRPr sz="1600">
              <a:latin typeface="Arial MT"/>
              <a:cs typeface="Arial MT"/>
            </a:endParaRPr>
          </a:p>
          <a:p>
            <a:pPr marL="342900" indent="-330200">
              <a:lnSpc>
                <a:spcPct val="100000"/>
              </a:lnSpc>
              <a:buFont typeface="Times New Roman"/>
              <a:buChar char="●"/>
              <a:tabLst>
                <a:tab pos="342900" algn="l"/>
              </a:tabLst>
            </a:pPr>
            <a:r>
              <a:rPr sz="1600" b="1" spc="-20" dirty="0">
                <a:solidFill>
                  <a:srgbClr val="00492D"/>
                </a:solidFill>
                <a:latin typeface="Arial"/>
                <a:cs typeface="Arial"/>
              </a:rPr>
              <a:t>Innovative</a:t>
            </a:r>
            <a:r>
              <a:rPr sz="1600" b="1" spc="-6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0492D"/>
                </a:solidFill>
                <a:latin typeface="Arial"/>
                <a:cs typeface="Arial"/>
              </a:rPr>
              <a:t>Aspects:</a:t>
            </a:r>
            <a:endParaRPr sz="1600">
              <a:latin typeface="Arial"/>
              <a:cs typeface="Arial"/>
            </a:endParaRPr>
          </a:p>
          <a:p>
            <a:pPr marL="800100" lvl="1" indent="-330200">
              <a:lnSpc>
                <a:spcPct val="100000"/>
              </a:lnSpc>
              <a:spcBef>
                <a:spcPts val="290"/>
              </a:spcBef>
              <a:buFont typeface="Times New Roman"/>
              <a:buChar char="○"/>
              <a:tabLst>
                <a:tab pos="800100" algn="l"/>
              </a:tabLst>
            </a:pPr>
            <a:r>
              <a:rPr sz="1600" dirty="0">
                <a:solidFill>
                  <a:srgbClr val="00160D"/>
                </a:solidFill>
                <a:latin typeface="Arial MT"/>
                <a:cs typeface="Arial MT"/>
              </a:rPr>
              <a:t>Tech-enabled</a:t>
            </a:r>
            <a:r>
              <a:rPr sz="1600" spc="4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160D"/>
                </a:solidFill>
                <a:latin typeface="Arial MT"/>
                <a:cs typeface="Arial MT"/>
              </a:rPr>
              <a:t>artisan</a:t>
            </a:r>
            <a:r>
              <a:rPr sz="1600" spc="5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160D"/>
                </a:solidFill>
                <a:latin typeface="Arial MT"/>
                <a:cs typeface="Arial MT"/>
              </a:rPr>
              <a:t>verification</a:t>
            </a:r>
            <a:r>
              <a:rPr sz="1600" spc="7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160D"/>
                </a:solidFill>
                <a:latin typeface="Arial MT"/>
                <a:cs typeface="Arial MT"/>
              </a:rPr>
              <a:t>and</a:t>
            </a:r>
            <a:r>
              <a:rPr sz="1600" spc="3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160D"/>
                </a:solidFill>
                <a:latin typeface="Arial MT"/>
                <a:cs typeface="Arial MT"/>
              </a:rPr>
              <a:t>fair</a:t>
            </a:r>
            <a:r>
              <a:rPr sz="1600" spc="5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160D"/>
                </a:solidFill>
                <a:latin typeface="Arial MT"/>
                <a:cs typeface="Arial MT"/>
              </a:rPr>
              <a:t>trade</a:t>
            </a:r>
            <a:r>
              <a:rPr sz="1600" spc="4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160D"/>
                </a:solidFill>
                <a:latin typeface="Arial MT"/>
                <a:cs typeface="Arial MT"/>
              </a:rPr>
              <a:t>pricing.</a:t>
            </a:r>
            <a:endParaRPr sz="1600">
              <a:latin typeface="Arial MT"/>
              <a:cs typeface="Arial MT"/>
            </a:endParaRPr>
          </a:p>
          <a:p>
            <a:pPr marL="800100" lvl="1" indent="-330200">
              <a:lnSpc>
                <a:spcPct val="100000"/>
              </a:lnSpc>
              <a:spcBef>
                <a:spcPts val="290"/>
              </a:spcBef>
              <a:buFont typeface="Times New Roman"/>
              <a:buChar char="○"/>
              <a:tabLst>
                <a:tab pos="800100" algn="l"/>
              </a:tabLst>
            </a:pPr>
            <a:r>
              <a:rPr sz="1600" dirty="0">
                <a:solidFill>
                  <a:srgbClr val="00160D"/>
                </a:solidFill>
                <a:latin typeface="Arial MT"/>
                <a:cs typeface="Arial MT"/>
              </a:rPr>
              <a:t>Gamified</a:t>
            </a:r>
            <a:r>
              <a:rPr sz="1600" spc="6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160D"/>
                </a:solidFill>
                <a:latin typeface="Arial MT"/>
                <a:cs typeface="Arial MT"/>
              </a:rPr>
              <a:t>bidding</a:t>
            </a:r>
            <a:r>
              <a:rPr sz="1600" spc="3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160D"/>
                </a:solidFill>
                <a:latin typeface="Arial MT"/>
                <a:cs typeface="Arial MT"/>
              </a:rPr>
              <a:t>experience</a:t>
            </a:r>
            <a:r>
              <a:rPr sz="1600" spc="2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160D"/>
                </a:solidFill>
                <a:latin typeface="Arial MT"/>
                <a:cs typeface="Arial MT"/>
              </a:rPr>
              <a:t>for</a:t>
            </a:r>
            <a:r>
              <a:rPr sz="1600" spc="3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160D"/>
                </a:solidFill>
                <a:latin typeface="Arial MT"/>
                <a:cs typeface="Arial MT"/>
              </a:rPr>
              <a:t>rare</a:t>
            </a:r>
            <a:r>
              <a:rPr sz="1600" spc="3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160D"/>
                </a:solidFill>
                <a:latin typeface="Arial MT"/>
                <a:cs typeface="Arial MT"/>
              </a:rPr>
              <a:t>collectibles.</a:t>
            </a:r>
            <a:endParaRPr sz="1600">
              <a:latin typeface="Arial MT"/>
              <a:cs typeface="Arial MT"/>
            </a:endParaRPr>
          </a:p>
          <a:p>
            <a:pPr marL="800100" lvl="1" indent="-330200">
              <a:lnSpc>
                <a:spcPct val="100000"/>
              </a:lnSpc>
              <a:spcBef>
                <a:spcPts val="285"/>
              </a:spcBef>
              <a:buFont typeface="Times New Roman"/>
              <a:buChar char="○"/>
              <a:tabLst>
                <a:tab pos="800100" algn="l"/>
              </a:tabLst>
            </a:pPr>
            <a:r>
              <a:rPr sz="1600" spc="60" dirty="0">
                <a:solidFill>
                  <a:srgbClr val="00160D"/>
                </a:solidFill>
                <a:latin typeface="Arial MT"/>
                <a:cs typeface="Arial MT"/>
              </a:rPr>
              <a:t>AI-</a:t>
            </a:r>
            <a:r>
              <a:rPr sz="1600" dirty="0">
                <a:solidFill>
                  <a:srgbClr val="00160D"/>
                </a:solidFill>
                <a:latin typeface="Arial MT"/>
                <a:cs typeface="Arial MT"/>
              </a:rPr>
              <a:t>driven</a:t>
            </a:r>
            <a:r>
              <a:rPr sz="1600" spc="6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160D"/>
                </a:solidFill>
                <a:latin typeface="Arial MT"/>
                <a:cs typeface="Arial MT"/>
              </a:rPr>
              <a:t>shopping</a:t>
            </a:r>
            <a:r>
              <a:rPr sz="1600" spc="4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160D"/>
                </a:solidFill>
                <a:latin typeface="Arial MT"/>
                <a:cs typeface="Arial MT"/>
              </a:rPr>
              <a:t>personalization</a:t>
            </a:r>
            <a:r>
              <a:rPr sz="1600" spc="8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160D"/>
                </a:solidFill>
                <a:latin typeface="Arial MT"/>
                <a:cs typeface="Arial MT"/>
              </a:rPr>
              <a:t>and</a:t>
            </a:r>
            <a:r>
              <a:rPr sz="1600" spc="6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160D"/>
                </a:solidFill>
                <a:latin typeface="Arial MT"/>
                <a:cs typeface="Arial MT"/>
              </a:rPr>
              <a:t>engagement.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33816" y="102107"/>
            <a:ext cx="506095" cy="508000"/>
          </a:xfrm>
          <a:custGeom>
            <a:avLst/>
            <a:gdLst/>
            <a:ahLst/>
            <a:cxnLst/>
            <a:rect l="l" t="t" r="r" b="b"/>
            <a:pathLst>
              <a:path w="506095" h="508000">
                <a:moveTo>
                  <a:pt x="505968" y="0"/>
                </a:moveTo>
                <a:lnTo>
                  <a:pt x="0" y="0"/>
                </a:lnTo>
                <a:lnTo>
                  <a:pt x="0" y="507491"/>
                </a:lnTo>
                <a:lnTo>
                  <a:pt x="505968" y="507491"/>
                </a:lnTo>
                <a:lnTo>
                  <a:pt x="505968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86800" y="4860035"/>
            <a:ext cx="119380" cy="119380"/>
          </a:xfrm>
          <a:custGeom>
            <a:avLst/>
            <a:gdLst/>
            <a:ahLst/>
            <a:cxnLst/>
            <a:rect l="l" t="t" r="r" b="b"/>
            <a:pathLst>
              <a:path w="119379" h="119379">
                <a:moveTo>
                  <a:pt x="118872" y="0"/>
                </a:moveTo>
                <a:lnTo>
                  <a:pt x="0" y="0"/>
                </a:lnTo>
                <a:lnTo>
                  <a:pt x="0" y="118871"/>
                </a:lnTo>
                <a:lnTo>
                  <a:pt x="118872" y="118871"/>
                </a:lnTo>
                <a:lnTo>
                  <a:pt x="118872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Market </a:t>
            </a:r>
            <a:r>
              <a:rPr spc="-100" dirty="0"/>
              <a:t>Research</a:t>
            </a:r>
            <a:r>
              <a:rPr spc="-145" dirty="0"/>
              <a:t> </a:t>
            </a:r>
            <a:r>
              <a:rPr spc="-120" dirty="0"/>
              <a:t>and</a:t>
            </a:r>
            <a:r>
              <a:rPr spc="-150" dirty="0"/>
              <a:t> </a:t>
            </a:r>
            <a:r>
              <a:rPr spc="-30" dirty="0"/>
              <a:t>Analysis</a:t>
            </a:r>
          </a:p>
        </p:txBody>
      </p:sp>
      <p:sp>
        <p:nvSpPr>
          <p:cNvPr id="4" name="object 4"/>
          <p:cNvSpPr/>
          <p:nvPr/>
        </p:nvSpPr>
        <p:spPr>
          <a:xfrm>
            <a:off x="216408" y="763523"/>
            <a:ext cx="8471535" cy="0"/>
          </a:xfrm>
          <a:custGeom>
            <a:avLst/>
            <a:gdLst/>
            <a:ahLst/>
            <a:cxnLst/>
            <a:rect l="l" t="t" r="r" b="b"/>
            <a:pathLst>
              <a:path w="8471535">
                <a:moveTo>
                  <a:pt x="0" y="0"/>
                </a:moveTo>
                <a:lnTo>
                  <a:pt x="8471154" y="0"/>
                </a:lnTo>
              </a:path>
            </a:pathLst>
          </a:custGeom>
          <a:ln w="9144">
            <a:solidFill>
              <a:srgbClr val="00492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433816" y="102107"/>
            <a:ext cx="506095" cy="508000"/>
          </a:xfrm>
          <a:custGeom>
            <a:avLst/>
            <a:gdLst/>
            <a:ahLst/>
            <a:cxnLst/>
            <a:rect l="l" t="t" r="r" b="b"/>
            <a:pathLst>
              <a:path w="506095" h="508000">
                <a:moveTo>
                  <a:pt x="505968" y="0"/>
                </a:moveTo>
                <a:lnTo>
                  <a:pt x="0" y="0"/>
                </a:lnTo>
                <a:lnTo>
                  <a:pt x="0" y="507491"/>
                </a:lnTo>
                <a:lnTo>
                  <a:pt x="505968" y="507491"/>
                </a:lnTo>
                <a:lnTo>
                  <a:pt x="505968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4044" y="1162811"/>
            <a:ext cx="4047744" cy="26670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003419" y="900429"/>
            <a:ext cx="22180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0492D"/>
                </a:solidFill>
                <a:latin typeface="Arial"/>
                <a:cs typeface="Arial"/>
              </a:rPr>
              <a:t>Market</a:t>
            </a:r>
            <a:r>
              <a:rPr sz="1500" b="1" spc="-7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00492D"/>
                </a:solidFill>
                <a:latin typeface="Arial"/>
                <a:cs typeface="Arial"/>
              </a:rPr>
              <a:t>Size</a:t>
            </a:r>
            <a:r>
              <a:rPr sz="1500" b="1" spc="-5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492D"/>
                </a:solidFill>
                <a:latin typeface="Arial"/>
                <a:cs typeface="Arial"/>
              </a:rPr>
              <a:t>and</a:t>
            </a:r>
            <a:r>
              <a:rPr sz="1500" b="1" spc="-4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92D"/>
                </a:solidFill>
                <a:latin typeface="Arial"/>
                <a:cs typeface="Arial"/>
              </a:rPr>
              <a:t>Growth: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897737"/>
            <a:ext cx="4039870" cy="729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400" spc="90" dirty="0">
                <a:solidFill>
                  <a:srgbClr val="00492D"/>
                </a:solidFill>
                <a:latin typeface="Arial MT"/>
                <a:cs typeface="Arial MT"/>
              </a:rPr>
              <a:t>We</a:t>
            </a:r>
            <a:r>
              <a:rPr sz="1400" spc="-3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operate</a:t>
            </a:r>
            <a:r>
              <a:rPr sz="1400" spc="-4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in</a:t>
            </a:r>
            <a:r>
              <a:rPr sz="1400" spc="-2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the</a:t>
            </a:r>
            <a:r>
              <a:rPr sz="1400" spc="-2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b="1" spc="-10" dirty="0">
                <a:solidFill>
                  <a:srgbClr val="00492D"/>
                </a:solidFill>
                <a:latin typeface="Arial"/>
                <a:cs typeface="Arial"/>
              </a:rPr>
              <a:t>artisan</a:t>
            </a:r>
            <a:r>
              <a:rPr sz="1400" b="1" spc="-2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492D"/>
                </a:solidFill>
                <a:latin typeface="Arial"/>
                <a:cs typeface="Arial"/>
              </a:rPr>
              <a:t>and</a:t>
            </a:r>
            <a:r>
              <a:rPr sz="1400" b="1" spc="-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492D"/>
                </a:solidFill>
                <a:latin typeface="Arial"/>
                <a:cs typeface="Arial"/>
              </a:rPr>
              <a:t>handcrafted</a:t>
            </a:r>
            <a:r>
              <a:rPr sz="1400" b="1" spc="-2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492D"/>
                </a:solidFill>
                <a:latin typeface="Arial"/>
                <a:cs typeface="Arial"/>
              </a:rPr>
              <a:t>goods market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,</a:t>
            </a:r>
            <a:r>
              <a:rPr sz="1400" spc="-2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which</a:t>
            </a:r>
            <a:r>
              <a:rPr sz="1400" spc="-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is</a:t>
            </a:r>
            <a:r>
              <a:rPr sz="1400" spc="-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a</a:t>
            </a:r>
            <a:r>
              <a:rPr sz="1400" spc="-2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niche</a:t>
            </a:r>
            <a:r>
              <a:rPr sz="1400" spc="2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50" dirty="0">
                <a:solidFill>
                  <a:srgbClr val="00492D"/>
                </a:solidFill>
                <a:latin typeface="Arial MT"/>
                <a:cs typeface="Arial MT"/>
              </a:rPr>
              <a:t>within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the broader</a:t>
            </a:r>
            <a:r>
              <a:rPr sz="1400" spc="-2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25" dirty="0">
                <a:solidFill>
                  <a:srgbClr val="00492D"/>
                </a:solidFill>
                <a:latin typeface="Arial MT"/>
                <a:cs typeface="Arial MT"/>
              </a:rPr>
              <a:t>e-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commerce</a:t>
            </a:r>
            <a:r>
              <a:rPr sz="1400" spc="-3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and</a:t>
            </a:r>
            <a:r>
              <a:rPr sz="1400" spc="-3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home</a:t>
            </a:r>
            <a:r>
              <a:rPr sz="1400" spc="-2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decor</a:t>
            </a:r>
            <a:r>
              <a:rPr sz="1400" spc="-3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industries.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1937359"/>
            <a:ext cx="4251960" cy="33020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400" b="1" spc="-10" dirty="0">
                <a:solidFill>
                  <a:srgbClr val="00492D"/>
                </a:solidFill>
                <a:latin typeface="Arial"/>
                <a:cs typeface="Arial"/>
              </a:rPr>
              <a:t>Competitive</a:t>
            </a:r>
            <a:r>
              <a:rPr sz="1400" b="1" spc="-6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492D"/>
                </a:solidFill>
                <a:latin typeface="Arial"/>
                <a:cs typeface="Arial"/>
              </a:rPr>
              <a:t>Landscape:</a:t>
            </a:r>
            <a:endParaRPr sz="1400">
              <a:latin typeface="Arial"/>
              <a:cs typeface="Arial"/>
            </a:endParaRPr>
          </a:p>
          <a:p>
            <a:pPr marL="469265" indent="-316865">
              <a:lnSpc>
                <a:spcPct val="100000"/>
              </a:lnSpc>
              <a:spcBef>
                <a:spcPts val="575"/>
              </a:spcBef>
              <a:buFont typeface="Times New Roman"/>
              <a:buChar char="●"/>
              <a:tabLst>
                <a:tab pos="469265" algn="l"/>
              </a:tabLst>
            </a:pP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Direct</a:t>
            </a:r>
            <a:r>
              <a:rPr sz="1400" spc="6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Competitors</a:t>
            </a:r>
            <a:endParaRPr sz="1400">
              <a:latin typeface="Arial MT"/>
              <a:cs typeface="Arial MT"/>
            </a:endParaRPr>
          </a:p>
          <a:p>
            <a:pPr marL="469265" indent="-316865">
              <a:lnSpc>
                <a:spcPct val="100000"/>
              </a:lnSpc>
              <a:spcBef>
                <a:spcPts val="565"/>
              </a:spcBef>
              <a:buFont typeface="Times New Roman"/>
              <a:buChar char="●"/>
              <a:tabLst>
                <a:tab pos="469265" algn="l"/>
              </a:tabLst>
            </a:pP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Indirect</a:t>
            </a:r>
            <a:r>
              <a:rPr sz="1400" spc="6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Competitors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5"/>
              </a:spcBef>
              <a:buFont typeface="Times New Roman"/>
              <a:buChar char="●"/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00492D"/>
                </a:solidFill>
                <a:latin typeface="Arial"/>
                <a:cs typeface="Arial"/>
              </a:rPr>
              <a:t>Positioning</a:t>
            </a:r>
            <a:r>
              <a:rPr sz="1400" b="1" spc="-3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492D"/>
                </a:solidFill>
                <a:latin typeface="Arial"/>
                <a:cs typeface="Arial"/>
              </a:rPr>
              <a:t>through</a:t>
            </a:r>
            <a:r>
              <a:rPr sz="1400" b="1" spc="-6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492D"/>
                </a:solidFill>
                <a:latin typeface="Arial"/>
                <a:cs typeface="Arial"/>
              </a:rPr>
              <a:t>Differentiation:</a:t>
            </a:r>
            <a:endParaRPr sz="1400">
              <a:latin typeface="Arial"/>
              <a:cs typeface="Arial"/>
            </a:endParaRPr>
          </a:p>
          <a:p>
            <a:pPr marL="469265" indent="-316865">
              <a:lnSpc>
                <a:spcPct val="100000"/>
              </a:lnSpc>
              <a:spcBef>
                <a:spcPts val="560"/>
              </a:spcBef>
              <a:buFont typeface="Times New Roman"/>
              <a:buChar char="●"/>
              <a:tabLst>
                <a:tab pos="469265" algn="l"/>
              </a:tabLst>
            </a:pPr>
            <a:r>
              <a:rPr sz="1400" spc="90" dirty="0">
                <a:solidFill>
                  <a:srgbClr val="00160D"/>
                </a:solidFill>
                <a:latin typeface="Arial MT"/>
                <a:cs typeface="Arial MT"/>
              </a:rPr>
              <a:t>We</a:t>
            </a:r>
            <a:r>
              <a:rPr sz="1400" spc="-1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focus</a:t>
            </a:r>
            <a:r>
              <a:rPr sz="1400" spc="-2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on</a:t>
            </a:r>
            <a:r>
              <a:rPr sz="1400" spc="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exclusive,</a:t>
            </a:r>
            <a:r>
              <a:rPr sz="1400" spc="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authenticated, </a:t>
            </a:r>
            <a:r>
              <a:rPr sz="1400" spc="-25" dirty="0">
                <a:solidFill>
                  <a:srgbClr val="00160D"/>
                </a:solidFill>
                <a:latin typeface="Arial MT"/>
                <a:cs typeface="Arial MT"/>
              </a:rPr>
              <a:t>and</a:t>
            </a:r>
            <a:endParaRPr sz="14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170"/>
              </a:spcBef>
            </a:pP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personalized</a:t>
            </a:r>
            <a:r>
              <a:rPr sz="1400" spc="3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160D"/>
                </a:solidFill>
                <a:latin typeface="Arial MT"/>
                <a:cs typeface="Arial MT"/>
              </a:rPr>
              <a:t>artifacts.</a:t>
            </a:r>
            <a:endParaRPr sz="1400">
              <a:latin typeface="Arial MT"/>
              <a:cs typeface="Arial MT"/>
            </a:endParaRPr>
          </a:p>
          <a:p>
            <a:pPr marL="469900" marR="5080" indent="-317500">
              <a:lnSpc>
                <a:spcPct val="110000"/>
              </a:lnSpc>
              <a:spcBef>
                <a:spcPts val="409"/>
              </a:spcBef>
              <a:buFont typeface="Times New Roman"/>
              <a:buChar char="●"/>
              <a:tabLst>
                <a:tab pos="469900" algn="l"/>
              </a:tabLst>
            </a:pP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Our</a:t>
            </a:r>
            <a:r>
              <a:rPr sz="1400" spc="2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bidding</a:t>
            </a:r>
            <a:r>
              <a:rPr sz="1400" spc="5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feature</a:t>
            </a:r>
            <a:r>
              <a:rPr sz="1400" spc="2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and</a:t>
            </a:r>
            <a:r>
              <a:rPr sz="1400" spc="4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spc="60" dirty="0">
                <a:solidFill>
                  <a:srgbClr val="00160D"/>
                </a:solidFill>
                <a:latin typeface="Arial MT"/>
                <a:cs typeface="Arial MT"/>
              </a:rPr>
              <a:t>gift</a:t>
            </a:r>
            <a:r>
              <a:rPr sz="1400" spc="2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packaging</a:t>
            </a:r>
            <a:r>
              <a:rPr sz="1400" spc="2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160D"/>
                </a:solidFill>
                <a:latin typeface="Arial MT"/>
                <a:cs typeface="Arial MT"/>
              </a:rPr>
              <a:t>services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provide</a:t>
            </a:r>
            <a:r>
              <a:rPr sz="1400" spc="5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added</a:t>
            </a:r>
            <a:r>
              <a:rPr sz="1400" spc="4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160D"/>
                </a:solidFill>
                <a:latin typeface="Arial MT"/>
                <a:cs typeface="Arial MT"/>
              </a:rPr>
              <a:t>value.</a:t>
            </a:r>
            <a:endParaRPr sz="1400">
              <a:latin typeface="Arial MT"/>
              <a:cs typeface="Arial MT"/>
            </a:endParaRPr>
          </a:p>
          <a:p>
            <a:pPr marL="469900" marR="196850" indent="-317500">
              <a:lnSpc>
                <a:spcPct val="110100"/>
              </a:lnSpc>
              <a:spcBef>
                <a:spcPts val="395"/>
              </a:spcBef>
              <a:buFont typeface="Times New Roman"/>
              <a:buChar char="●"/>
              <a:tabLst>
                <a:tab pos="469900" algn="l"/>
              </a:tabLst>
            </a:pP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Partnerships</a:t>
            </a:r>
            <a:r>
              <a:rPr sz="1400" spc="5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spc="70" dirty="0">
                <a:solidFill>
                  <a:srgbClr val="00160D"/>
                </a:solidFill>
                <a:latin typeface="Arial MT"/>
                <a:cs typeface="Arial MT"/>
              </a:rPr>
              <a:t>with</a:t>
            </a:r>
            <a:r>
              <a:rPr sz="1400" spc="4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interior</a:t>
            </a:r>
            <a:r>
              <a:rPr sz="1400" spc="5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designers</a:t>
            </a:r>
            <a:r>
              <a:rPr sz="1400" spc="7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00160D"/>
                </a:solidFill>
                <a:latin typeface="Arial MT"/>
                <a:cs typeface="Arial MT"/>
              </a:rPr>
              <a:t>and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influencers</a:t>
            </a:r>
            <a:r>
              <a:rPr sz="1400" spc="6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amplify</a:t>
            </a:r>
            <a:r>
              <a:rPr sz="1400" spc="3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our</a:t>
            </a:r>
            <a:r>
              <a:rPr sz="1400" spc="4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reach</a:t>
            </a:r>
            <a:r>
              <a:rPr sz="1400" spc="6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and</a:t>
            </a:r>
            <a:r>
              <a:rPr sz="1400" spc="5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160D"/>
                </a:solidFill>
                <a:latin typeface="Arial MT"/>
                <a:cs typeface="Arial MT"/>
              </a:rPr>
              <a:t>strengthen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our</a:t>
            </a:r>
            <a:r>
              <a:rPr sz="1400" spc="4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brand</a:t>
            </a:r>
            <a:r>
              <a:rPr sz="1400" spc="3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160D"/>
                </a:solidFill>
                <a:latin typeface="Arial MT"/>
                <a:cs typeface="Arial MT"/>
              </a:rPr>
              <a:t>image.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59552" y="1217675"/>
            <a:ext cx="3340735" cy="3761740"/>
            <a:chOff x="5559552" y="1217675"/>
            <a:chExt cx="3340735" cy="3761740"/>
          </a:xfrm>
        </p:grpSpPr>
        <p:sp>
          <p:nvSpPr>
            <p:cNvPr id="3" name="object 3"/>
            <p:cNvSpPr/>
            <p:nvPr/>
          </p:nvSpPr>
          <p:spPr>
            <a:xfrm>
              <a:off x="8686800" y="4860035"/>
              <a:ext cx="119380" cy="119380"/>
            </a:xfrm>
            <a:custGeom>
              <a:avLst/>
              <a:gdLst/>
              <a:ahLst/>
              <a:cxnLst/>
              <a:rect l="l" t="t" r="r" b="b"/>
              <a:pathLst>
                <a:path w="119379" h="119379">
                  <a:moveTo>
                    <a:pt x="118872" y="0"/>
                  </a:moveTo>
                  <a:lnTo>
                    <a:pt x="0" y="0"/>
                  </a:lnTo>
                  <a:lnTo>
                    <a:pt x="0" y="118871"/>
                  </a:lnTo>
                  <a:lnTo>
                    <a:pt x="118872" y="118871"/>
                  </a:lnTo>
                  <a:lnTo>
                    <a:pt x="118872" y="0"/>
                  </a:lnTo>
                  <a:close/>
                </a:path>
              </a:pathLst>
            </a:custGeom>
            <a:solidFill>
              <a:srgbClr val="25A9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59552" y="1217675"/>
              <a:ext cx="3340607" cy="3640836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Market </a:t>
            </a:r>
            <a:r>
              <a:rPr spc="-100" dirty="0"/>
              <a:t>Research</a:t>
            </a:r>
            <a:r>
              <a:rPr spc="-145" dirty="0"/>
              <a:t> </a:t>
            </a:r>
            <a:r>
              <a:rPr spc="-120" dirty="0"/>
              <a:t>and</a:t>
            </a:r>
            <a:r>
              <a:rPr spc="-150" dirty="0"/>
              <a:t> </a:t>
            </a:r>
            <a:r>
              <a:rPr spc="-30" dirty="0"/>
              <a:t>Analysis</a:t>
            </a:r>
          </a:p>
        </p:txBody>
      </p:sp>
      <p:sp>
        <p:nvSpPr>
          <p:cNvPr id="6" name="object 6"/>
          <p:cNvSpPr/>
          <p:nvPr/>
        </p:nvSpPr>
        <p:spPr>
          <a:xfrm>
            <a:off x="216408" y="763523"/>
            <a:ext cx="8471535" cy="0"/>
          </a:xfrm>
          <a:custGeom>
            <a:avLst/>
            <a:gdLst/>
            <a:ahLst/>
            <a:cxnLst/>
            <a:rect l="l" t="t" r="r" b="b"/>
            <a:pathLst>
              <a:path w="8471535">
                <a:moveTo>
                  <a:pt x="0" y="0"/>
                </a:moveTo>
                <a:lnTo>
                  <a:pt x="8471154" y="0"/>
                </a:lnTo>
              </a:path>
            </a:pathLst>
          </a:custGeom>
          <a:ln w="9144">
            <a:solidFill>
              <a:srgbClr val="00492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433816" y="102107"/>
            <a:ext cx="506095" cy="508000"/>
          </a:xfrm>
          <a:custGeom>
            <a:avLst/>
            <a:gdLst/>
            <a:ahLst/>
            <a:cxnLst/>
            <a:rect l="l" t="t" r="r" b="b"/>
            <a:pathLst>
              <a:path w="506095" h="508000">
                <a:moveTo>
                  <a:pt x="505968" y="0"/>
                </a:moveTo>
                <a:lnTo>
                  <a:pt x="0" y="0"/>
                </a:lnTo>
                <a:lnTo>
                  <a:pt x="0" y="507491"/>
                </a:lnTo>
                <a:lnTo>
                  <a:pt x="505968" y="507491"/>
                </a:lnTo>
                <a:lnTo>
                  <a:pt x="505968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60019" y="904113"/>
            <a:ext cx="4285615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35" dirty="0">
                <a:solidFill>
                  <a:srgbClr val="00492D"/>
                </a:solidFill>
                <a:latin typeface="Arial"/>
                <a:cs typeface="Arial"/>
              </a:rPr>
              <a:t>Customer’s</a:t>
            </a:r>
            <a:r>
              <a:rPr sz="1400" b="1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492D"/>
                </a:solidFill>
                <a:latin typeface="Arial"/>
                <a:cs typeface="Arial"/>
              </a:rPr>
              <a:t>Need: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Authenticity</a:t>
            </a:r>
            <a:r>
              <a:rPr sz="1400" spc="11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and</a:t>
            </a:r>
            <a:r>
              <a:rPr sz="1400" spc="8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Quality,</a:t>
            </a:r>
            <a:r>
              <a:rPr sz="1400" spc="5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00160D"/>
                </a:solidFill>
                <a:latin typeface="Arial MT"/>
                <a:cs typeface="Arial MT"/>
              </a:rPr>
              <a:t>Convenience,</a:t>
            </a:r>
            <a:r>
              <a:rPr sz="1400" spc="13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160D"/>
                </a:solidFill>
                <a:latin typeface="Arial MT"/>
                <a:cs typeface="Arial MT"/>
              </a:rPr>
              <a:t>Sustainability,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Trust,</a:t>
            </a:r>
            <a:r>
              <a:rPr sz="1400" spc="-10" dirty="0">
                <a:solidFill>
                  <a:srgbClr val="00160D"/>
                </a:solidFill>
                <a:latin typeface="Arial MT"/>
                <a:cs typeface="Arial MT"/>
              </a:rPr>
              <a:t> Uniqueness.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0019" y="1858518"/>
            <a:ext cx="4634230" cy="2745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0492D"/>
                </a:solidFill>
                <a:latin typeface="Arial"/>
                <a:cs typeface="Arial"/>
              </a:rPr>
              <a:t>Collaborator’s</a:t>
            </a:r>
            <a:r>
              <a:rPr sz="1400" b="1" spc="-5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492D"/>
                </a:solidFill>
                <a:latin typeface="Arial"/>
                <a:cs typeface="Arial"/>
              </a:rPr>
              <a:t>Current</a:t>
            </a:r>
            <a:r>
              <a:rPr sz="1400" b="1" spc="-6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492D"/>
                </a:solidFill>
                <a:latin typeface="Arial"/>
                <a:cs typeface="Arial"/>
              </a:rPr>
              <a:t>Needs:</a:t>
            </a:r>
            <a:endParaRPr sz="1400">
              <a:latin typeface="Arial"/>
              <a:cs typeface="Arial"/>
            </a:endParaRPr>
          </a:p>
          <a:p>
            <a:pPr marL="469900" marR="173355" indent="-317500">
              <a:lnSpc>
                <a:spcPct val="100000"/>
              </a:lnSpc>
              <a:buFont typeface="Times New Roman"/>
              <a:buChar char="●"/>
              <a:tabLst>
                <a:tab pos="469900" algn="l"/>
              </a:tabLst>
            </a:pPr>
            <a:r>
              <a:rPr sz="1400" b="1" spc="-20" dirty="0">
                <a:solidFill>
                  <a:srgbClr val="00492D"/>
                </a:solidFill>
                <a:latin typeface="Arial"/>
                <a:cs typeface="Arial"/>
              </a:rPr>
              <a:t>Artisans</a:t>
            </a:r>
            <a:r>
              <a:rPr sz="1400" b="1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492D"/>
                </a:solidFill>
                <a:latin typeface="Arial"/>
                <a:cs typeface="Arial"/>
              </a:rPr>
              <a:t>(Sellers):</a:t>
            </a:r>
            <a:r>
              <a:rPr sz="1400" b="1" spc="4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Visibility, </a:t>
            </a:r>
            <a:r>
              <a:rPr sz="1400" spc="-10" dirty="0">
                <a:solidFill>
                  <a:srgbClr val="00160D"/>
                </a:solidFill>
                <a:latin typeface="Arial MT"/>
                <a:cs typeface="Arial MT"/>
              </a:rPr>
              <a:t>Fair</a:t>
            </a:r>
            <a:r>
              <a:rPr sz="1400" spc="-2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160D"/>
                </a:solidFill>
                <a:latin typeface="Arial MT"/>
                <a:cs typeface="Arial MT"/>
              </a:rPr>
              <a:t>Pricing,</a:t>
            </a:r>
            <a:r>
              <a:rPr sz="1400" spc="-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160D"/>
                </a:solidFill>
                <a:latin typeface="Arial MT"/>
                <a:cs typeface="Arial MT"/>
              </a:rPr>
              <a:t>Logistics Support</a:t>
            </a:r>
            <a:endParaRPr sz="1400">
              <a:latin typeface="Arial MT"/>
              <a:cs typeface="Arial MT"/>
            </a:endParaRPr>
          </a:p>
          <a:p>
            <a:pPr marL="469900" marR="427355" indent="-317500">
              <a:lnSpc>
                <a:spcPct val="100000"/>
              </a:lnSpc>
              <a:buFont typeface="Times New Roman"/>
              <a:buChar char="●"/>
              <a:tabLst>
                <a:tab pos="469900" algn="l"/>
              </a:tabLst>
            </a:pPr>
            <a:r>
              <a:rPr sz="1400" b="1" dirty="0">
                <a:solidFill>
                  <a:srgbClr val="00492D"/>
                </a:solidFill>
                <a:latin typeface="Arial"/>
                <a:cs typeface="Arial"/>
              </a:rPr>
              <a:t>Delivery</a:t>
            </a:r>
            <a:r>
              <a:rPr sz="1400" b="1" spc="-6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492D"/>
                </a:solidFill>
                <a:latin typeface="Arial"/>
                <a:cs typeface="Arial"/>
              </a:rPr>
              <a:t>and</a:t>
            </a:r>
            <a:r>
              <a:rPr sz="1400" b="1" spc="-5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spc="-40" dirty="0">
                <a:solidFill>
                  <a:srgbClr val="00492D"/>
                </a:solidFill>
                <a:latin typeface="Arial"/>
                <a:cs typeface="Arial"/>
              </a:rPr>
              <a:t>Logistics</a:t>
            </a:r>
            <a:r>
              <a:rPr sz="1400" b="1" spc="-5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spc="-40" dirty="0">
                <a:solidFill>
                  <a:srgbClr val="00492D"/>
                </a:solidFill>
                <a:latin typeface="Arial"/>
                <a:cs typeface="Arial"/>
              </a:rPr>
              <a:t>Providers:</a:t>
            </a:r>
            <a:r>
              <a:rPr sz="1400" b="1" spc="-5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160D"/>
                </a:solidFill>
                <a:latin typeface="Arial MT"/>
                <a:cs typeface="Arial MT"/>
              </a:rPr>
              <a:t>Volume Consistency,</a:t>
            </a:r>
            <a:r>
              <a:rPr sz="1400" spc="-3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Cost</a:t>
            </a:r>
            <a:r>
              <a:rPr sz="1400" spc="-8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160D"/>
                </a:solidFill>
                <a:latin typeface="Arial MT"/>
                <a:cs typeface="Arial MT"/>
              </a:rPr>
              <a:t>Efficiency,</a:t>
            </a:r>
            <a:r>
              <a:rPr sz="1400" spc="-3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160D"/>
                </a:solidFill>
                <a:latin typeface="Arial MT"/>
                <a:cs typeface="Arial MT"/>
              </a:rPr>
              <a:t>Service</a:t>
            </a:r>
            <a:r>
              <a:rPr sz="1400" spc="-4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160D"/>
                </a:solidFill>
                <a:latin typeface="Arial MT"/>
                <a:cs typeface="Arial MT"/>
              </a:rPr>
              <a:t>Reliability</a:t>
            </a:r>
            <a:endParaRPr sz="1400">
              <a:latin typeface="Arial MT"/>
              <a:cs typeface="Arial MT"/>
            </a:endParaRPr>
          </a:p>
          <a:p>
            <a:pPr marL="469900" marR="5080" indent="-317500">
              <a:lnSpc>
                <a:spcPct val="100000"/>
              </a:lnSpc>
              <a:buFont typeface="Times New Roman"/>
              <a:buChar char="●"/>
              <a:tabLst>
                <a:tab pos="469900" algn="l"/>
              </a:tabLst>
            </a:pPr>
            <a:r>
              <a:rPr sz="1400" b="1" spc="-25" dirty="0">
                <a:solidFill>
                  <a:srgbClr val="00492D"/>
                </a:solidFill>
                <a:latin typeface="Arial"/>
                <a:cs typeface="Arial"/>
              </a:rPr>
              <a:t>Influencers</a:t>
            </a:r>
            <a:r>
              <a:rPr sz="1400" b="1" spc="-3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492D"/>
                </a:solidFill>
                <a:latin typeface="Arial"/>
                <a:cs typeface="Arial"/>
              </a:rPr>
              <a:t>and</a:t>
            </a:r>
            <a:r>
              <a:rPr sz="1400" b="1" spc="-5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492D"/>
                </a:solidFill>
                <a:latin typeface="Arial"/>
                <a:cs typeface="Arial"/>
              </a:rPr>
              <a:t>Interior</a:t>
            </a:r>
            <a:r>
              <a:rPr sz="1400" b="1" spc="-4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spc="-35" dirty="0">
                <a:solidFill>
                  <a:srgbClr val="00492D"/>
                </a:solidFill>
                <a:latin typeface="Arial"/>
                <a:cs typeface="Arial"/>
              </a:rPr>
              <a:t>Designers:</a:t>
            </a:r>
            <a:r>
              <a:rPr sz="1400" b="1" spc="-3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160D"/>
                </a:solidFill>
                <a:latin typeface="Arial MT"/>
                <a:cs typeface="Arial MT"/>
              </a:rPr>
              <a:t>Commission-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Based</a:t>
            </a:r>
            <a:r>
              <a:rPr sz="1400" spc="-6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Partnerships,</a:t>
            </a:r>
            <a:r>
              <a:rPr sz="1400" spc="-4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160D"/>
                </a:solidFill>
                <a:latin typeface="Arial MT"/>
                <a:cs typeface="Arial MT"/>
              </a:rPr>
              <a:t>Exclusive</a:t>
            </a:r>
            <a:r>
              <a:rPr sz="1400" spc="-5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00160D"/>
                </a:solidFill>
                <a:latin typeface="Arial MT"/>
                <a:cs typeface="Arial MT"/>
              </a:rPr>
              <a:t>Access, </a:t>
            </a:r>
            <a:r>
              <a:rPr sz="1400" spc="-10" dirty="0">
                <a:solidFill>
                  <a:srgbClr val="00160D"/>
                </a:solidFill>
                <a:latin typeface="Arial MT"/>
                <a:cs typeface="Arial MT"/>
              </a:rPr>
              <a:t>Collaborative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Branding</a:t>
            </a:r>
            <a:r>
              <a:rPr sz="1400" spc="9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160D"/>
                </a:solidFill>
                <a:latin typeface="Arial MT"/>
                <a:cs typeface="Arial MT"/>
              </a:rPr>
              <a:t>Opportunities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solidFill>
                  <a:srgbClr val="00492D"/>
                </a:solidFill>
                <a:latin typeface="Arial"/>
                <a:cs typeface="Arial"/>
              </a:rPr>
              <a:t>Current</a:t>
            </a:r>
            <a:r>
              <a:rPr sz="1400" b="1" spc="-3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492D"/>
                </a:solidFill>
                <a:latin typeface="Arial"/>
                <a:cs typeface="Arial"/>
              </a:rPr>
              <a:t>Competitors:</a:t>
            </a:r>
            <a:endParaRPr sz="1400">
              <a:latin typeface="Arial"/>
              <a:cs typeface="Arial"/>
            </a:endParaRPr>
          </a:p>
          <a:p>
            <a:pPr marL="12700" marR="283845">
              <a:lnSpc>
                <a:spcPts val="1930"/>
              </a:lnSpc>
              <a:spcBef>
                <a:spcPts val="45"/>
              </a:spcBef>
            </a:pPr>
            <a:r>
              <a:rPr sz="1400" spc="-20" dirty="0">
                <a:solidFill>
                  <a:srgbClr val="00160D"/>
                </a:solidFill>
                <a:latin typeface="Arial MT"/>
                <a:cs typeface="Arial MT"/>
              </a:rPr>
              <a:t>Fabindia,</a:t>
            </a:r>
            <a:r>
              <a:rPr sz="1400" spc="2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Asha</a:t>
            </a:r>
            <a:r>
              <a:rPr sz="1400" spc="5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Handicraft</a:t>
            </a:r>
            <a:r>
              <a:rPr sz="1400" spc="10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Association,</a:t>
            </a:r>
            <a:r>
              <a:rPr sz="1400" spc="5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Craft</a:t>
            </a:r>
            <a:r>
              <a:rPr sz="1400" spc="-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160D"/>
                </a:solidFill>
                <a:latin typeface="Arial MT"/>
                <a:cs typeface="Arial MT"/>
              </a:rPr>
              <a:t>Maestros, </a:t>
            </a:r>
            <a:r>
              <a:rPr sz="1400" dirty="0">
                <a:solidFill>
                  <a:srgbClr val="00160D"/>
                </a:solidFill>
                <a:latin typeface="Arial MT"/>
                <a:cs typeface="Arial MT"/>
              </a:rPr>
              <a:t>Dastkar,</a:t>
            </a:r>
            <a:r>
              <a:rPr sz="1400" spc="-45" dirty="0">
                <a:solidFill>
                  <a:srgbClr val="00160D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00160D"/>
                </a:solidFill>
                <a:latin typeface="Arial MT"/>
                <a:cs typeface="Arial MT"/>
              </a:rPr>
              <a:t>etc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20309" y="919352"/>
            <a:ext cx="14751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492D"/>
                </a:solidFill>
                <a:latin typeface="Arial"/>
                <a:cs typeface="Arial"/>
              </a:rPr>
              <a:t>Target</a:t>
            </a:r>
            <a:r>
              <a:rPr sz="1400" b="1" spc="2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spc="-30" dirty="0">
                <a:solidFill>
                  <a:srgbClr val="00492D"/>
                </a:solidFill>
                <a:latin typeface="Arial"/>
                <a:cs typeface="Arial"/>
              </a:rPr>
              <a:t>Customer: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Market </a:t>
            </a:r>
            <a:r>
              <a:rPr spc="-100" dirty="0"/>
              <a:t>Research</a:t>
            </a:r>
            <a:r>
              <a:rPr spc="-145" dirty="0"/>
              <a:t> </a:t>
            </a:r>
            <a:r>
              <a:rPr spc="-120" dirty="0"/>
              <a:t>and</a:t>
            </a:r>
            <a:r>
              <a:rPr spc="-150" dirty="0"/>
              <a:t> </a:t>
            </a:r>
            <a:r>
              <a:rPr spc="-30" dirty="0"/>
              <a:t>Analysis</a:t>
            </a:r>
          </a:p>
        </p:txBody>
      </p:sp>
      <p:sp>
        <p:nvSpPr>
          <p:cNvPr id="3" name="object 3"/>
          <p:cNvSpPr/>
          <p:nvPr/>
        </p:nvSpPr>
        <p:spPr>
          <a:xfrm>
            <a:off x="216408" y="763523"/>
            <a:ext cx="8471535" cy="0"/>
          </a:xfrm>
          <a:custGeom>
            <a:avLst/>
            <a:gdLst/>
            <a:ahLst/>
            <a:cxnLst/>
            <a:rect l="l" t="t" r="r" b="b"/>
            <a:pathLst>
              <a:path w="8471535">
                <a:moveTo>
                  <a:pt x="0" y="0"/>
                </a:moveTo>
                <a:lnTo>
                  <a:pt x="8471154" y="0"/>
                </a:lnTo>
              </a:path>
            </a:pathLst>
          </a:custGeom>
          <a:ln w="9144">
            <a:solidFill>
              <a:srgbClr val="00492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433816" y="102107"/>
            <a:ext cx="506095" cy="508000"/>
          </a:xfrm>
          <a:custGeom>
            <a:avLst/>
            <a:gdLst/>
            <a:ahLst/>
            <a:cxnLst/>
            <a:rect l="l" t="t" r="r" b="b"/>
            <a:pathLst>
              <a:path w="506095" h="508000">
                <a:moveTo>
                  <a:pt x="505968" y="0"/>
                </a:moveTo>
                <a:lnTo>
                  <a:pt x="0" y="0"/>
                </a:lnTo>
                <a:lnTo>
                  <a:pt x="0" y="507491"/>
                </a:lnTo>
                <a:lnTo>
                  <a:pt x="505968" y="507491"/>
                </a:lnTo>
                <a:lnTo>
                  <a:pt x="505968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348739" y="818388"/>
            <a:ext cx="6446520" cy="4189729"/>
            <a:chOff x="1348739" y="818388"/>
            <a:chExt cx="6446520" cy="418972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8739" y="818388"/>
              <a:ext cx="6446520" cy="418947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71444" y="2324100"/>
              <a:ext cx="303276" cy="31699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99232" y="2567939"/>
              <a:ext cx="303276" cy="17068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01995" y="2090927"/>
              <a:ext cx="370332" cy="368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42687" y="1706880"/>
              <a:ext cx="601979" cy="193548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1640" y="196341"/>
            <a:ext cx="28124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Business</a:t>
            </a:r>
            <a:r>
              <a:rPr spc="-155" dirty="0"/>
              <a:t> </a:t>
            </a:r>
            <a:r>
              <a:rPr spc="-85" dirty="0"/>
              <a:t>Model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10934" y="754189"/>
          <a:ext cx="8589645" cy="4324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1540">
                <a:tc>
                  <a:txBody>
                    <a:bodyPr/>
                    <a:lstStyle/>
                    <a:p>
                      <a:pPr marL="91440" marR="51562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500" b="1" spc="-4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Position</a:t>
                      </a:r>
                      <a:r>
                        <a:rPr sz="1500" spc="-4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sz="1500" spc="5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Focused</a:t>
                      </a:r>
                      <a:r>
                        <a:rPr sz="1500" spc="8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differentiation,</a:t>
                      </a:r>
                      <a:r>
                        <a:rPr sz="1500" spc="4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premium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pricing</a:t>
                      </a:r>
                      <a:r>
                        <a:rPr sz="1500" spc="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sz="1500" spc="3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unique</a:t>
                      </a:r>
                      <a:r>
                        <a:rPr sz="1500" spc="1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artifacts</a:t>
                      </a:r>
                      <a:endParaRPr sz="1500">
                        <a:latin typeface="Arial MT"/>
                        <a:cs typeface="Arial MT"/>
                      </a:endParaRPr>
                    </a:p>
                    <a:p>
                      <a:pPr marL="548640" marR="605790" indent="-323215">
                        <a:lnSpc>
                          <a:spcPct val="100000"/>
                        </a:lnSpc>
                        <a:spcBef>
                          <a:spcPts val="1205"/>
                        </a:spcBef>
                        <a:buFont typeface="Times New Roman"/>
                        <a:buChar char="●"/>
                        <a:tabLst>
                          <a:tab pos="548640" algn="l"/>
                        </a:tabLst>
                      </a:pP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Targets</a:t>
                      </a:r>
                      <a:r>
                        <a:rPr sz="1500" spc="-1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niche market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500" spc="-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home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decor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enthusiasts</a:t>
                      </a:r>
                      <a:r>
                        <a:rPr sz="1500" spc="4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500" spc="5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collectors</a:t>
                      </a:r>
                      <a:r>
                        <a:rPr sz="1500" spc="5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seeking exclusivity.</a:t>
                      </a:r>
                      <a:endParaRPr sz="1500">
                        <a:latin typeface="Arial MT"/>
                        <a:cs typeface="Arial MT"/>
                      </a:endParaRPr>
                    </a:p>
                    <a:p>
                      <a:pPr marL="548640" marR="388620" indent="-323215">
                        <a:lnSpc>
                          <a:spcPct val="100000"/>
                        </a:lnSpc>
                        <a:buFont typeface="Times New Roman"/>
                        <a:buChar char="●"/>
                        <a:tabLst>
                          <a:tab pos="548640" algn="l"/>
                        </a:tabLst>
                      </a:pPr>
                      <a:r>
                        <a:rPr sz="1500" spc="-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Leverages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perceived value</a:t>
                      </a:r>
                      <a:r>
                        <a:rPr sz="1500" spc="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theory </a:t>
                      </a:r>
                      <a:r>
                        <a:rPr sz="1500" spc="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to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justify</a:t>
                      </a:r>
                      <a:r>
                        <a:rPr sz="1500" spc="3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premium</a:t>
                      </a:r>
                      <a:r>
                        <a:rPr sz="1500" spc="3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pricing</a:t>
                      </a:r>
                      <a:r>
                        <a:rPr sz="1500" spc="3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sz="1500" spc="4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500" spc="3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specialized</a:t>
                      </a:r>
                      <a:endParaRPr sz="1500">
                        <a:latin typeface="Arial MT"/>
                        <a:cs typeface="Arial MT"/>
                      </a:endParaRPr>
                    </a:p>
                    <a:p>
                      <a:pPr marL="5486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segment.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679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763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500" b="1" spc="-4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Revenue</a:t>
                      </a:r>
                      <a:r>
                        <a:rPr sz="1500" b="1" spc="-65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3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Streams</a:t>
                      </a:r>
                      <a:r>
                        <a:rPr sz="1500" spc="-3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sz="1500" spc="-7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Commissions,</a:t>
                      </a:r>
                      <a:r>
                        <a:rPr sz="1500" spc="-5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subscriptions,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bidding</a:t>
                      </a:r>
                      <a:r>
                        <a:rPr sz="1500" spc="4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fees,</a:t>
                      </a:r>
                      <a:r>
                        <a:rPr sz="1500" spc="4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promotions</a:t>
                      </a:r>
                      <a:endParaRPr sz="1500">
                        <a:latin typeface="Arial MT"/>
                        <a:cs typeface="Arial MT"/>
                      </a:endParaRPr>
                    </a:p>
                    <a:p>
                      <a:pPr marL="549275" marR="321945" indent="-323215">
                        <a:lnSpc>
                          <a:spcPct val="100000"/>
                        </a:lnSpc>
                        <a:spcBef>
                          <a:spcPts val="1205"/>
                        </a:spcBef>
                        <a:buFont typeface="Times New Roman"/>
                        <a:buChar char="●"/>
                        <a:tabLst>
                          <a:tab pos="549275" algn="l"/>
                        </a:tabLst>
                      </a:pP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Diversified</a:t>
                      </a:r>
                      <a:r>
                        <a:rPr sz="1500" spc="-4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income</a:t>
                      </a:r>
                      <a:r>
                        <a:rPr sz="1500" spc="-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ensures</a:t>
                      </a:r>
                      <a:r>
                        <a:rPr sz="1500" spc="-5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financial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stability</a:t>
                      </a:r>
                      <a:r>
                        <a:rPr sz="1500" spc="19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500" spc="17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supports</a:t>
                      </a:r>
                      <a:r>
                        <a:rPr sz="1500" spc="17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platform</a:t>
                      </a:r>
                      <a:r>
                        <a:rPr sz="1500" spc="18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growth.</a:t>
                      </a:r>
                      <a:endParaRPr sz="1500">
                        <a:latin typeface="Arial MT"/>
                        <a:cs typeface="Arial MT"/>
                      </a:endParaRPr>
                    </a:p>
                    <a:p>
                      <a:pPr marL="549275" marR="160655" indent="-323215">
                        <a:lnSpc>
                          <a:spcPct val="100000"/>
                        </a:lnSpc>
                        <a:buFont typeface="Times New Roman"/>
                        <a:buChar char="●"/>
                        <a:tabLst>
                          <a:tab pos="549275" algn="l"/>
                        </a:tabLst>
                      </a:pP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Aligns</a:t>
                      </a:r>
                      <a:r>
                        <a:rPr sz="1500" spc="6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7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1500" spc="6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6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multi-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sided</a:t>
                      </a:r>
                      <a:r>
                        <a:rPr sz="1500" spc="6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platform </a:t>
                      </a:r>
                      <a:r>
                        <a:rPr sz="1500" spc="-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economics,</a:t>
                      </a:r>
                      <a:r>
                        <a:rPr sz="1500" spc="4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capturing</a:t>
                      </a:r>
                      <a:r>
                        <a:rPr sz="15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value</a:t>
                      </a:r>
                      <a:r>
                        <a:rPr sz="15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from</a:t>
                      </a:r>
                      <a:r>
                        <a:rPr sz="1500" spc="4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multiple</a:t>
                      </a:r>
                      <a:endParaRPr sz="1500">
                        <a:latin typeface="Arial MT"/>
                        <a:cs typeface="Arial MT"/>
                      </a:endParaRPr>
                    </a:p>
                    <a:p>
                      <a:pPr marL="5492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user</a:t>
                      </a:r>
                      <a:r>
                        <a:rPr sz="1500" spc="-6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groups.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679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0">
                <a:tc rowSpan="3">
                  <a:txBody>
                    <a:bodyPr/>
                    <a:lstStyle/>
                    <a:p>
                      <a:pPr marL="91440" marR="38036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500" b="1" spc="-35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Pricing</a:t>
                      </a:r>
                      <a:r>
                        <a:rPr sz="1500" b="1" spc="-4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Strategy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sz="1500" spc="-6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Commission-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based,</a:t>
                      </a:r>
                      <a:r>
                        <a:rPr sz="1500" spc="-3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tiered subs,</a:t>
                      </a:r>
                      <a:r>
                        <a:rPr sz="1500" spc="-6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dynamic</a:t>
                      </a:r>
                      <a:r>
                        <a:rPr sz="1500" spc="-4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bidding</a:t>
                      </a:r>
                      <a:endParaRPr sz="1500">
                        <a:latin typeface="Arial MT"/>
                        <a:cs typeface="Arial MT"/>
                      </a:endParaRPr>
                    </a:p>
                    <a:p>
                      <a:pPr marL="548640" marR="86995" indent="-323215">
                        <a:lnSpc>
                          <a:spcPct val="100000"/>
                        </a:lnSpc>
                        <a:spcBef>
                          <a:spcPts val="1200"/>
                        </a:spcBef>
                        <a:buFont typeface="Times New Roman"/>
                        <a:buChar char="●"/>
                        <a:tabLst>
                          <a:tab pos="548640" algn="l"/>
                        </a:tabLst>
                      </a:pP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Balances</a:t>
                      </a:r>
                      <a:r>
                        <a:rPr sz="1500" spc="114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profitability</a:t>
                      </a:r>
                      <a:r>
                        <a:rPr sz="1500" spc="1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7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1500" spc="1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artisan</a:t>
                      </a:r>
                      <a:r>
                        <a:rPr sz="1500" spc="114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fairness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500" spc="-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customer</a:t>
                      </a:r>
                      <a:r>
                        <a:rPr sz="1500" spc="-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value.</a:t>
                      </a:r>
                      <a:endParaRPr sz="1500">
                        <a:latin typeface="Arial MT"/>
                        <a:cs typeface="Arial MT"/>
                      </a:endParaRPr>
                    </a:p>
                    <a:p>
                      <a:pPr marL="548640" marR="328930" indent="-323215">
                        <a:lnSpc>
                          <a:spcPct val="100000"/>
                        </a:lnSpc>
                        <a:buFont typeface="Times New Roman"/>
                        <a:buChar char="●"/>
                        <a:tabLst>
                          <a:tab pos="548640" algn="l"/>
                        </a:tabLst>
                      </a:pP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Draws</a:t>
                      </a:r>
                      <a:r>
                        <a:rPr sz="1500" spc="4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on</a:t>
                      </a:r>
                      <a:r>
                        <a:rPr sz="1500" spc="3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price</a:t>
                      </a:r>
                      <a:r>
                        <a:rPr sz="1500" spc="4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discrimination</a:t>
                      </a:r>
                      <a:r>
                        <a:rPr sz="1500" spc="5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theory</a:t>
                      </a:r>
                      <a:r>
                        <a:rPr sz="1500" spc="1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to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optimize</a:t>
                      </a:r>
                      <a:r>
                        <a:rPr sz="1500" spc="-3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revenue</a:t>
                      </a:r>
                      <a:r>
                        <a:rPr sz="1500" spc="-4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across</a:t>
                      </a:r>
                      <a:r>
                        <a:rPr sz="1500" spc="-4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customer</a:t>
                      </a:r>
                      <a:endParaRPr sz="1500">
                        <a:latin typeface="Arial MT"/>
                        <a:cs typeface="Arial MT"/>
                      </a:endParaRPr>
                    </a:p>
                    <a:p>
                      <a:pPr marL="5486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segments.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92075" marR="97028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500" b="1" spc="-2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Sales</a:t>
                      </a:r>
                      <a:r>
                        <a:rPr sz="1500" b="1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4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Channels</a:t>
                      </a:r>
                      <a:r>
                        <a:rPr sz="1500" spc="-4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sz="1500" spc="-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Online</a:t>
                      </a:r>
                      <a:r>
                        <a:rPr sz="1500" spc="-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marketplace,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collaborations,</a:t>
                      </a:r>
                      <a:r>
                        <a:rPr sz="1500" spc="9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art</a:t>
                      </a:r>
                      <a:r>
                        <a:rPr sz="1500" spc="9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fairs</a:t>
                      </a:r>
                      <a:endParaRPr sz="1500">
                        <a:latin typeface="Arial MT"/>
                        <a:cs typeface="Arial MT"/>
                      </a:endParaRPr>
                    </a:p>
                    <a:p>
                      <a:pPr marL="549275" marR="383540" indent="-323215">
                        <a:lnSpc>
                          <a:spcPct val="100000"/>
                        </a:lnSpc>
                        <a:spcBef>
                          <a:spcPts val="1200"/>
                        </a:spcBef>
                        <a:buFont typeface="Times New Roman"/>
                        <a:buChar char="●"/>
                        <a:tabLst>
                          <a:tab pos="549275" algn="l"/>
                        </a:tabLst>
                      </a:pP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Combines</a:t>
                      </a:r>
                      <a:r>
                        <a:rPr sz="1500" spc="7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digital</a:t>
                      </a:r>
                      <a:r>
                        <a:rPr sz="1500" spc="7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convenience</a:t>
                      </a:r>
                      <a:r>
                        <a:rPr sz="1500" spc="7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with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targeted</a:t>
                      </a:r>
                      <a:r>
                        <a:rPr sz="1500" spc="9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offline</a:t>
                      </a:r>
                      <a:r>
                        <a:rPr sz="1500" spc="1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outreach</a:t>
                      </a:r>
                      <a:r>
                        <a:rPr sz="1500" spc="10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sz="1500" spc="9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maximum reach.</a:t>
                      </a:r>
                      <a:endParaRPr sz="1500">
                        <a:latin typeface="Arial MT"/>
                        <a:cs typeface="Arial MT"/>
                      </a:endParaRPr>
                    </a:p>
                    <a:p>
                      <a:pPr marL="548640" indent="-322580">
                        <a:lnSpc>
                          <a:spcPct val="100000"/>
                        </a:lnSpc>
                        <a:buFont typeface="Times New Roman"/>
                        <a:buChar char="●"/>
                        <a:tabLst>
                          <a:tab pos="548640" algn="l"/>
                        </a:tabLst>
                      </a:pP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Utilizes</a:t>
                      </a:r>
                      <a:r>
                        <a:rPr sz="1500" spc="3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channel</a:t>
                      </a:r>
                      <a:r>
                        <a:rPr sz="15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synergy</a:t>
                      </a:r>
                      <a:r>
                        <a:rPr sz="1500" spc="3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theory</a:t>
                      </a:r>
                      <a:r>
                        <a:rPr sz="1500" spc="3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endParaRPr sz="1500">
                        <a:latin typeface="Arial MT"/>
                        <a:cs typeface="Arial MT"/>
                      </a:endParaRPr>
                    </a:p>
                    <a:p>
                      <a:pPr marL="549275">
                        <a:lnSpc>
                          <a:spcPct val="100000"/>
                        </a:lnSpc>
                      </a:pPr>
                      <a:r>
                        <a:rPr sz="1500" spc="-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enhance</a:t>
                      </a:r>
                      <a:r>
                        <a:rPr sz="1500" spc="-3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accessibility</a:t>
                      </a:r>
                      <a:r>
                        <a:rPr sz="1500" spc="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500" spc="-3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customer</a:t>
                      </a:r>
                      <a:endParaRPr sz="1500">
                        <a:latin typeface="Arial MT"/>
                        <a:cs typeface="Arial MT"/>
                      </a:endParaRPr>
                    </a:p>
                    <a:p>
                      <a:pPr marL="54927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5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touchpoints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solidFill>
                      <a:srgbClr val="25A9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9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8433816" y="102107"/>
            <a:ext cx="506095" cy="508000"/>
          </a:xfrm>
          <a:custGeom>
            <a:avLst/>
            <a:gdLst/>
            <a:ahLst/>
            <a:cxnLst/>
            <a:rect l="l" t="t" r="r" b="b"/>
            <a:pathLst>
              <a:path w="506095" h="508000">
                <a:moveTo>
                  <a:pt x="505968" y="0"/>
                </a:moveTo>
                <a:lnTo>
                  <a:pt x="0" y="0"/>
                </a:lnTo>
                <a:lnTo>
                  <a:pt x="0" y="507491"/>
                </a:lnTo>
                <a:lnTo>
                  <a:pt x="505968" y="507491"/>
                </a:lnTo>
                <a:lnTo>
                  <a:pt x="505968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1640" y="196341"/>
            <a:ext cx="28124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Business</a:t>
            </a:r>
            <a:r>
              <a:rPr spc="-155" dirty="0"/>
              <a:t> </a:t>
            </a:r>
            <a:r>
              <a:rPr spc="-85" dirty="0"/>
              <a:t>Model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10934" y="1252791"/>
          <a:ext cx="8589645" cy="3720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07210">
                <a:tc>
                  <a:txBody>
                    <a:bodyPr/>
                    <a:lstStyle/>
                    <a:p>
                      <a:pPr marL="91440" marR="443865">
                        <a:lnSpc>
                          <a:spcPct val="115100"/>
                        </a:lnSpc>
                        <a:spcBef>
                          <a:spcPts val="509"/>
                        </a:spcBef>
                      </a:pPr>
                      <a:r>
                        <a:rPr sz="1400" b="1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Watering</a:t>
                      </a:r>
                      <a:r>
                        <a:rPr sz="1400" b="1" spc="15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Holes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sz="1400" spc="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Social</a:t>
                      </a:r>
                      <a:r>
                        <a:rPr sz="1400" spc="-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media,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art</a:t>
                      </a:r>
                      <a:r>
                        <a:rPr sz="1400" spc="-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fairs,</a:t>
                      </a:r>
                      <a:r>
                        <a:rPr sz="1400" spc="-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online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decor</a:t>
                      </a:r>
                      <a:r>
                        <a:rPr sz="1400" spc="-6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communities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548640" marR="410845" indent="-317500">
                        <a:lnSpc>
                          <a:spcPct val="114999"/>
                        </a:lnSpc>
                        <a:spcBef>
                          <a:spcPts val="1200"/>
                        </a:spcBef>
                        <a:buFont typeface="Times New Roman"/>
                        <a:buChar char="●"/>
                        <a:tabLst>
                          <a:tab pos="548640" algn="l"/>
                        </a:tabLst>
                      </a:pP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Engages</a:t>
                      </a:r>
                      <a:r>
                        <a:rPr sz="1400" spc="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customers</a:t>
                      </a:r>
                      <a:r>
                        <a:rPr sz="1400" spc="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where</a:t>
                      </a:r>
                      <a:r>
                        <a:rPr sz="14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they</a:t>
                      </a:r>
                      <a:r>
                        <a:rPr sz="1400" spc="3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naturally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gather</a:t>
                      </a:r>
                      <a:r>
                        <a:rPr sz="1400" spc="4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online</a:t>
                      </a:r>
                      <a:r>
                        <a:rPr sz="14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3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offline.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548640" indent="-31750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Times New Roman"/>
                        <a:buChar char="●"/>
                        <a:tabLst>
                          <a:tab pos="548640" algn="l"/>
                        </a:tabLst>
                      </a:pP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Applies</a:t>
                      </a:r>
                      <a:r>
                        <a:rPr sz="1400" spc="10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community</a:t>
                      </a:r>
                      <a:r>
                        <a:rPr sz="1400" spc="114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engagement</a:t>
                      </a:r>
                      <a:r>
                        <a:rPr sz="1400" spc="13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theory</a:t>
                      </a:r>
                      <a:r>
                        <a:rPr sz="1400" spc="114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5486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build</a:t>
                      </a:r>
                      <a:r>
                        <a:rPr sz="1400" spc="8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trust</a:t>
                      </a:r>
                      <a:r>
                        <a:rPr sz="1400" spc="8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9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brand</a:t>
                      </a:r>
                      <a:r>
                        <a:rPr sz="1400" spc="8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loyalty.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64769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19785">
                        <a:lnSpc>
                          <a:spcPct val="115100"/>
                        </a:lnSpc>
                        <a:spcBef>
                          <a:spcPts val="509"/>
                        </a:spcBef>
                      </a:pPr>
                      <a:r>
                        <a:rPr sz="1400" b="1" spc="-3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Partnerships</a:t>
                      </a:r>
                      <a:r>
                        <a:rPr sz="1400" spc="-3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sz="1400" spc="3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Artisans,</a:t>
                      </a:r>
                      <a:r>
                        <a:rPr sz="1400" spc="1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logistics,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designers/influencers,</a:t>
                      </a:r>
                      <a:r>
                        <a:rPr sz="1400" spc="7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payment</a:t>
                      </a:r>
                      <a:r>
                        <a:rPr sz="14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gateways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549275" marR="356235" indent="-317500">
                        <a:lnSpc>
                          <a:spcPct val="114999"/>
                        </a:lnSpc>
                        <a:spcBef>
                          <a:spcPts val="1200"/>
                        </a:spcBef>
                        <a:buFont typeface="Times New Roman"/>
                        <a:buChar char="●"/>
                        <a:tabLst>
                          <a:tab pos="549275" algn="l"/>
                        </a:tabLst>
                      </a:pP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Strengthens</a:t>
                      </a:r>
                      <a:r>
                        <a:rPr sz="1400" spc="7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operations,</a:t>
                      </a:r>
                      <a:r>
                        <a:rPr sz="1400" spc="3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trust,</a:t>
                      </a:r>
                      <a:r>
                        <a:rPr sz="14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4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market reach</a:t>
                      </a:r>
                      <a:r>
                        <a:rPr sz="1400" spc="3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through</a:t>
                      </a:r>
                      <a:r>
                        <a:rPr sz="1400" spc="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key</a:t>
                      </a:r>
                      <a:r>
                        <a:rPr sz="1400" spc="3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collaborations.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548640" indent="-31686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Times New Roman"/>
                        <a:buChar char="●"/>
                        <a:tabLst>
                          <a:tab pos="548640" algn="l"/>
                        </a:tabLst>
                      </a:pP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Grounded</a:t>
                      </a:r>
                      <a:r>
                        <a:rPr sz="1400" spc="-3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resource</a:t>
                      </a:r>
                      <a:r>
                        <a:rPr sz="1400" spc="-1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dependency</a:t>
                      </a:r>
                      <a:r>
                        <a:rPr sz="1400" spc="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theory,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5492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securing</a:t>
                      </a:r>
                      <a:r>
                        <a:rPr sz="1400" spc="7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critical</a:t>
                      </a:r>
                      <a:r>
                        <a:rPr sz="14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external</a:t>
                      </a:r>
                      <a:r>
                        <a:rPr sz="1400" spc="7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capabilities.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64769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72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400" b="1" spc="-25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Suppliers</a:t>
                      </a:r>
                      <a:r>
                        <a:rPr sz="1400" spc="-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sz="1400" spc="8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Vetted</a:t>
                      </a:r>
                      <a:r>
                        <a:rPr sz="1400" spc="4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regional</a:t>
                      </a:r>
                      <a:r>
                        <a:rPr sz="1400" spc="7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artisans</a:t>
                      </a:r>
                      <a:r>
                        <a:rPr sz="1400" spc="4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sz="14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quality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548640" indent="-317500">
                        <a:lnSpc>
                          <a:spcPct val="100000"/>
                        </a:lnSpc>
                        <a:spcBef>
                          <a:spcPts val="1455"/>
                        </a:spcBef>
                        <a:buFont typeface="Times New Roman"/>
                        <a:buChar char="●"/>
                        <a:tabLst>
                          <a:tab pos="548640" algn="l"/>
                        </a:tabLst>
                      </a:pPr>
                      <a:r>
                        <a:rPr sz="1400" spc="-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Ensures</a:t>
                      </a:r>
                      <a:r>
                        <a:rPr sz="1400" spc="114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authenticity</a:t>
                      </a:r>
                      <a:r>
                        <a:rPr sz="1400" spc="1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1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quality</a:t>
                      </a:r>
                      <a:r>
                        <a:rPr sz="1400" spc="7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through</a:t>
                      </a:r>
                      <a:r>
                        <a:rPr sz="1400" spc="1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5486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rigorous</a:t>
                      </a:r>
                      <a:r>
                        <a:rPr sz="1400" spc="1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vetting</a:t>
                      </a:r>
                      <a:r>
                        <a:rPr sz="1400" spc="17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process.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548640" marR="523240" indent="-317500">
                        <a:lnSpc>
                          <a:spcPts val="1939"/>
                        </a:lnSpc>
                        <a:spcBef>
                          <a:spcPts val="100"/>
                        </a:spcBef>
                        <a:buFont typeface="Times New Roman"/>
                        <a:buChar char="●"/>
                        <a:tabLst>
                          <a:tab pos="548640" algn="l"/>
                        </a:tabLst>
                      </a:pP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Reflects</a:t>
                      </a:r>
                      <a:r>
                        <a:rPr sz="1400" spc="4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supply</a:t>
                      </a:r>
                      <a:r>
                        <a:rPr sz="1400" spc="4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chain</a:t>
                      </a:r>
                      <a:r>
                        <a:rPr sz="1400" spc="4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curation</a:t>
                      </a:r>
                      <a:r>
                        <a:rPr sz="1400" spc="3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theory</a:t>
                      </a:r>
                      <a:r>
                        <a:rPr sz="1400" spc="5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to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maintain</a:t>
                      </a:r>
                      <a:r>
                        <a:rPr sz="1400" spc="10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competitive</a:t>
                      </a:r>
                      <a:r>
                        <a:rPr sz="1400" spc="1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differentiation.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9715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50900">
                        <a:lnSpc>
                          <a:spcPct val="114999"/>
                        </a:lnSpc>
                        <a:spcBef>
                          <a:spcPts val="515"/>
                        </a:spcBef>
                      </a:pPr>
                      <a:r>
                        <a:rPr sz="1400" b="1" spc="-25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Customer</a:t>
                      </a:r>
                      <a:r>
                        <a:rPr sz="1400" b="1" spc="5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35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Acquisition</a:t>
                      </a:r>
                      <a:r>
                        <a:rPr sz="1400" spc="-3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sz="1400" spc="8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Digital</a:t>
                      </a:r>
                      <a:r>
                        <a:rPr sz="1400" spc="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marketing,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influencer</a:t>
                      </a:r>
                      <a:r>
                        <a:rPr sz="1400" spc="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ties,</a:t>
                      </a:r>
                      <a:r>
                        <a:rPr sz="1400" spc="1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4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loyalty</a:t>
                      </a:r>
                      <a:r>
                        <a:rPr sz="1400" spc="-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programs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548640" indent="-316865">
                        <a:lnSpc>
                          <a:spcPct val="100000"/>
                        </a:lnSpc>
                        <a:spcBef>
                          <a:spcPts val="1450"/>
                        </a:spcBef>
                        <a:buFont typeface="Times New Roman"/>
                        <a:buChar char="●"/>
                        <a:tabLst>
                          <a:tab pos="548640" algn="l"/>
                        </a:tabLst>
                      </a:pPr>
                      <a:r>
                        <a:rPr sz="1400" spc="6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Multi-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channel approach</a:t>
                      </a:r>
                      <a:r>
                        <a:rPr sz="1400" spc="-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for broad</a:t>
                      </a:r>
                      <a:r>
                        <a:rPr sz="1400" spc="-1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reach,</a:t>
                      </a:r>
                      <a:r>
                        <a:rPr sz="1400" spc="3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high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5492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engagement,</a:t>
                      </a:r>
                      <a:r>
                        <a:rPr sz="1400" spc="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retention.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549275" marR="257810" indent="-317500">
                        <a:lnSpc>
                          <a:spcPts val="1939"/>
                        </a:lnSpc>
                        <a:spcBef>
                          <a:spcPts val="100"/>
                        </a:spcBef>
                        <a:buFont typeface="Times New Roman"/>
                        <a:buChar char="●"/>
                        <a:tabLst>
                          <a:tab pos="549275" algn="l"/>
                        </a:tabLst>
                      </a:pP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Based</a:t>
                      </a:r>
                      <a:r>
                        <a:rPr sz="1400" spc="4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on</a:t>
                      </a:r>
                      <a:r>
                        <a:rPr sz="1400" spc="5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customer</a:t>
                      </a:r>
                      <a:r>
                        <a:rPr sz="1400" spc="4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lifetime</a:t>
                      </a:r>
                      <a:r>
                        <a:rPr sz="14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value</a:t>
                      </a:r>
                      <a:r>
                        <a:rPr sz="1400" spc="4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theory</a:t>
                      </a:r>
                      <a:r>
                        <a:rPr sz="1400" spc="6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to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maximize</a:t>
                      </a:r>
                      <a:r>
                        <a:rPr sz="1400" spc="4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5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long-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term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profitability.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654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04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25A9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16408" y="763523"/>
            <a:ext cx="8471535" cy="0"/>
          </a:xfrm>
          <a:custGeom>
            <a:avLst/>
            <a:gdLst/>
            <a:ahLst/>
            <a:cxnLst/>
            <a:rect l="l" t="t" r="r" b="b"/>
            <a:pathLst>
              <a:path w="8471535">
                <a:moveTo>
                  <a:pt x="0" y="0"/>
                </a:moveTo>
                <a:lnTo>
                  <a:pt x="8471154" y="0"/>
                </a:lnTo>
              </a:path>
            </a:pathLst>
          </a:custGeom>
          <a:ln w="9144">
            <a:solidFill>
              <a:srgbClr val="00492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433816" y="102107"/>
            <a:ext cx="506095" cy="508000"/>
          </a:xfrm>
          <a:custGeom>
            <a:avLst/>
            <a:gdLst/>
            <a:ahLst/>
            <a:cxnLst/>
            <a:rect l="l" t="t" r="r" b="b"/>
            <a:pathLst>
              <a:path w="506095" h="508000">
                <a:moveTo>
                  <a:pt x="505968" y="0"/>
                </a:moveTo>
                <a:lnTo>
                  <a:pt x="0" y="0"/>
                </a:lnTo>
                <a:lnTo>
                  <a:pt x="0" y="507491"/>
                </a:lnTo>
                <a:lnTo>
                  <a:pt x="505968" y="507491"/>
                </a:lnTo>
                <a:lnTo>
                  <a:pt x="505968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Marketing</a:t>
            </a:r>
            <a:r>
              <a:rPr spc="-150" dirty="0"/>
              <a:t> </a:t>
            </a:r>
            <a:r>
              <a:rPr spc="-120" dirty="0"/>
              <a:t>and</a:t>
            </a:r>
            <a:r>
              <a:rPr spc="-135" dirty="0"/>
              <a:t> </a:t>
            </a:r>
            <a:r>
              <a:rPr spc="-70" dirty="0"/>
              <a:t>Sales</a:t>
            </a:r>
            <a:r>
              <a:rPr spc="-130" dirty="0"/>
              <a:t> </a:t>
            </a:r>
            <a:r>
              <a:rPr spc="-80" dirty="0"/>
              <a:t>Strategy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10934" y="754189"/>
          <a:ext cx="8589645" cy="42881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801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400" b="1" spc="-1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Brand: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276225" indent="-139065">
                        <a:lnSpc>
                          <a:spcPct val="100000"/>
                        </a:lnSpc>
                        <a:spcBef>
                          <a:spcPts val="250"/>
                        </a:spcBef>
                        <a:buChar char="•"/>
                        <a:tabLst>
                          <a:tab pos="276225" algn="l"/>
                        </a:tabLst>
                      </a:pP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Position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KalaKriti</a:t>
                      </a:r>
                      <a:r>
                        <a:rPr sz="1400" spc="-4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as</a:t>
                      </a:r>
                      <a:r>
                        <a:rPr sz="1400" spc="-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-3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premium </a:t>
                      </a:r>
                      <a:r>
                        <a:rPr sz="1400" spc="-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brand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celebrating</a:t>
                      </a:r>
                      <a:r>
                        <a:rPr sz="1400" spc="15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cultural</a:t>
                      </a:r>
                      <a:r>
                        <a:rPr sz="1400" spc="1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artistry</a:t>
                      </a:r>
                      <a:r>
                        <a:rPr sz="1400" spc="13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14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authenticity.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91440" marR="262890" indent="184785">
                        <a:lnSpc>
                          <a:spcPts val="1939"/>
                        </a:lnSpc>
                        <a:spcBef>
                          <a:spcPts val="100"/>
                        </a:spcBef>
                        <a:buChar char="•"/>
                        <a:tabLst>
                          <a:tab pos="276225" algn="l"/>
                        </a:tabLst>
                      </a:pPr>
                      <a:r>
                        <a:rPr sz="1400" spc="-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Emphasize</a:t>
                      </a:r>
                      <a:r>
                        <a:rPr sz="1400" spc="4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trust—</a:t>
                      </a:r>
                      <a:r>
                        <a:rPr sz="1400" spc="5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81%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3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consumers</a:t>
                      </a:r>
                      <a:r>
                        <a:rPr sz="1400" spc="3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prioritize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authentic</a:t>
                      </a:r>
                      <a:r>
                        <a:rPr sz="1400" spc="8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brands.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9461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400" b="1" spc="-2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Sales</a:t>
                      </a:r>
                      <a:r>
                        <a:rPr sz="1400" b="1" spc="-45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Tactics: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278130" indent="-13906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•"/>
                        <a:tabLst>
                          <a:tab pos="278130" algn="l"/>
                        </a:tabLst>
                      </a:pPr>
                      <a:r>
                        <a:rPr sz="1400" b="1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E-</a:t>
                      </a:r>
                      <a:r>
                        <a:rPr sz="1400" b="1" spc="-35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Commerce</a:t>
                      </a:r>
                      <a:r>
                        <a:rPr sz="1400" b="1" spc="-65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1400" b="1" spc="-5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Direct</a:t>
                      </a:r>
                      <a:r>
                        <a:rPr sz="1400" b="1" spc="-55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Selling:</a:t>
                      </a:r>
                      <a:r>
                        <a:rPr sz="1400" b="1" spc="-2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Leverage</a:t>
                      </a:r>
                      <a:r>
                        <a:rPr sz="1400" spc="-6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92075" marR="142240">
                        <a:lnSpc>
                          <a:spcPct val="114999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robust</a:t>
                      </a:r>
                      <a:r>
                        <a:rPr sz="1400" spc="9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website</a:t>
                      </a:r>
                      <a:r>
                        <a:rPr sz="1400" spc="1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(global</a:t>
                      </a:r>
                      <a:r>
                        <a:rPr sz="1400" spc="8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conversion</a:t>
                      </a:r>
                      <a:r>
                        <a:rPr sz="1400" spc="13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~2.86%)</a:t>
                      </a:r>
                      <a:r>
                        <a:rPr sz="1400" spc="1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and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art/craft</a:t>
                      </a:r>
                      <a:r>
                        <a:rPr sz="1400" spc="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fairs,</a:t>
                      </a:r>
                      <a:r>
                        <a:rPr sz="1400" spc="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7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1400" spc="3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personalized</a:t>
                      </a:r>
                      <a:r>
                        <a:rPr sz="1400" spc="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outreach</a:t>
                      </a:r>
                      <a:r>
                        <a:rPr sz="1400" spc="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reaching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up</a:t>
                      </a:r>
                      <a:r>
                        <a:rPr sz="1400" spc="-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400" spc="-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5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20%</a:t>
                      </a:r>
                      <a:r>
                        <a:rPr sz="1400" spc="-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conversion.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276225" indent="-13906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•"/>
                        <a:tabLst>
                          <a:tab pos="276225" algn="l"/>
                        </a:tabLst>
                      </a:pPr>
                      <a:r>
                        <a:rPr sz="1400" b="1" spc="-45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Subscriptions:</a:t>
                      </a:r>
                      <a:r>
                        <a:rPr sz="1400" b="1" spc="65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Offer</a:t>
                      </a:r>
                      <a:r>
                        <a:rPr sz="1400" spc="1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exclusive</a:t>
                      </a:r>
                      <a:r>
                        <a:rPr sz="1400" spc="3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memberships</a:t>
                      </a:r>
                      <a:r>
                        <a:rPr sz="14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boost</a:t>
                      </a:r>
                      <a:r>
                        <a:rPr sz="1400" spc="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recurring</a:t>
                      </a:r>
                      <a:r>
                        <a:rPr sz="1400" spc="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revenue</a:t>
                      </a:r>
                      <a:r>
                        <a:rPr sz="14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by</a:t>
                      </a:r>
                      <a:r>
                        <a:rPr sz="1400" spc="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3–10%.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9461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0275">
                <a:tc rowSpan="3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400" b="1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Marketing</a:t>
                      </a:r>
                      <a:r>
                        <a:rPr sz="1400" b="1" spc="-55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Channels: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1440" marR="269875" indent="184785">
                        <a:lnSpc>
                          <a:spcPct val="114999"/>
                        </a:lnSpc>
                        <a:buFont typeface="Arial MT"/>
                        <a:buChar char="•"/>
                        <a:tabLst>
                          <a:tab pos="276225" algn="l"/>
                        </a:tabLst>
                      </a:pPr>
                      <a:r>
                        <a:rPr sz="1400" b="1" spc="-3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Social</a:t>
                      </a:r>
                      <a:r>
                        <a:rPr sz="1400" b="1" spc="35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Media:</a:t>
                      </a:r>
                      <a:r>
                        <a:rPr sz="1400" b="1" spc="15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Utilize</a:t>
                      </a:r>
                      <a:r>
                        <a:rPr sz="1400" spc="1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Instagram</a:t>
                      </a:r>
                      <a:r>
                        <a:rPr sz="1400" spc="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(1.5B</a:t>
                      </a:r>
                      <a:r>
                        <a:rPr sz="1400" spc="1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monthly </a:t>
                      </a:r>
                      <a:r>
                        <a:rPr sz="1400" spc="-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users),</a:t>
                      </a:r>
                      <a:r>
                        <a:rPr sz="1400" spc="4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Facebook</a:t>
                      </a:r>
                      <a:r>
                        <a:rPr sz="1400" spc="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(2.91B</a:t>
                      </a:r>
                      <a:r>
                        <a:rPr sz="1400" spc="4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monthly</a:t>
                      </a:r>
                      <a:r>
                        <a:rPr sz="1400" spc="3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users),</a:t>
                      </a:r>
                      <a:r>
                        <a:rPr sz="1400" spc="4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and </a:t>
                      </a:r>
                      <a:r>
                        <a:rPr sz="1400" spc="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Pinterest</a:t>
                      </a:r>
                      <a:r>
                        <a:rPr sz="1400" spc="6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sz="14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visual</a:t>
                      </a:r>
                      <a:r>
                        <a:rPr sz="14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storytelling.</a:t>
                      </a:r>
                      <a:r>
                        <a:rPr sz="1400" spc="9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Influencers: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Generate</a:t>
                      </a:r>
                      <a:r>
                        <a:rPr sz="1400" spc="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about</a:t>
                      </a:r>
                      <a:r>
                        <a:rPr sz="1400" spc="1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$6.50</a:t>
                      </a:r>
                      <a:r>
                        <a:rPr sz="1400" spc="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sz="1400" spc="1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every</a:t>
                      </a:r>
                      <a:r>
                        <a:rPr sz="14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6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$1</a:t>
                      </a:r>
                      <a:r>
                        <a:rPr sz="1400" spc="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invested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.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91440" marR="349885" indent="184785">
                        <a:lnSpc>
                          <a:spcPct val="114999"/>
                        </a:lnSpc>
                        <a:buFont typeface="Arial MT"/>
                        <a:buChar char="•"/>
                        <a:tabLst>
                          <a:tab pos="276225" algn="l"/>
                        </a:tabLst>
                      </a:pPr>
                      <a:r>
                        <a:rPr sz="1400" b="1" spc="-35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Email:</a:t>
                      </a:r>
                      <a:r>
                        <a:rPr sz="1400" b="1" spc="-45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Achieve</a:t>
                      </a:r>
                      <a:r>
                        <a:rPr sz="1400" spc="-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an</a:t>
                      </a:r>
                      <a:r>
                        <a:rPr sz="1400" spc="-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average</a:t>
                      </a:r>
                      <a:r>
                        <a:rPr sz="1400" spc="-3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ROI</a:t>
                      </a:r>
                      <a:r>
                        <a:rPr sz="1400" spc="-3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400" spc="-4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6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$42</a:t>
                      </a:r>
                      <a:r>
                        <a:rPr sz="1400" spc="-3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per</a:t>
                      </a:r>
                      <a:r>
                        <a:rPr sz="1400" spc="-3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3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$1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spent.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276225" indent="-13906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•"/>
                        <a:tabLst>
                          <a:tab pos="276225" algn="l"/>
                        </a:tabLst>
                      </a:pPr>
                      <a:r>
                        <a:rPr sz="1400" b="1" spc="-75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SEO:</a:t>
                      </a:r>
                      <a:r>
                        <a:rPr sz="1400" b="1" spc="35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Benefit</a:t>
                      </a:r>
                      <a:r>
                        <a:rPr sz="14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from</a:t>
                      </a:r>
                      <a:r>
                        <a:rPr sz="1400" spc="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400" spc="4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14.6%</a:t>
                      </a:r>
                      <a:r>
                        <a:rPr sz="1400" spc="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conversion</a:t>
                      </a:r>
                      <a:r>
                        <a:rPr sz="14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rate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versus</a:t>
                      </a:r>
                      <a:r>
                        <a:rPr sz="1400" spc="8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1.7%</a:t>
                      </a:r>
                      <a:r>
                        <a:rPr sz="1400" spc="6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sz="1400" spc="6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outbound</a:t>
                      </a:r>
                      <a:r>
                        <a:rPr sz="1400" spc="4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tactics.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9715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400" b="1" spc="-25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Customer</a:t>
                      </a:r>
                      <a:r>
                        <a:rPr sz="1400" b="1" spc="-6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492D"/>
                          </a:solidFill>
                          <a:latin typeface="Arial"/>
                          <a:cs typeface="Arial"/>
                        </a:rPr>
                        <a:t>Retention: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2075" marR="389255" indent="184785">
                        <a:lnSpc>
                          <a:spcPct val="114999"/>
                        </a:lnSpc>
                        <a:buChar char="•"/>
                        <a:tabLst>
                          <a:tab pos="276860" algn="l"/>
                        </a:tabLst>
                      </a:pPr>
                      <a:r>
                        <a:rPr sz="1400" spc="-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Enhance</a:t>
                      </a:r>
                      <a:r>
                        <a:rPr sz="1400" spc="-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retention—a</a:t>
                      </a:r>
                      <a:r>
                        <a:rPr sz="1400" spc="-1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5%</a:t>
                      </a:r>
                      <a:r>
                        <a:rPr sz="1400" spc="-1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increase can</a:t>
                      </a:r>
                      <a:r>
                        <a:rPr sz="1400" spc="-1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boost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profits</a:t>
                      </a:r>
                      <a:r>
                        <a:rPr sz="1400" spc="114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by</a:t>
                      </a:r>
                      <a:r>
                        <a:rPr sz="1400" spc="13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25–95%</a:t>
                      </a:r>
                      <a:r>
                        <a:rPr sz="1400" spc="1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.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276225" indent="-139065">
                        <a:lnSpc>
                          <a:spcPct val="100000"/>
                        </a:lnSpc>
                        <a:spcBef>
                          <a:spcPts val="250"/>
                        </a:spcBef>
                        <a:buChar char="•"/>
                        <a:tabLst>
                          <a:tab pos="276225" algn="l"/>
                        </a:tabLst>
                      </a:pP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Use</a:t>
                      </a:r>
                      <a:r>
                        <a:rPr sz="1400" spc="7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loyalty</a:t>
                      </a:r>
                      <a:r>
                        <a:rPr sz="14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programs</a:t>
                      </a:r>
                      <a:r>
                        <a:rPr sz="1400" spc="3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400" spc="4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potentially</a:t>
                      </a:r>
                      <a:r>
                        <a:rPr sz="14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7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lift</a:t>
                      </a:r>
                      <a:r>
                        <a:rPr sz="1400" spc="4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repeat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purchases</a:t>
                      </a:r>
                      <a:r>
                        <a:rPr sz="1400" spc="-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by</a:t>
                      </a:r>
                      <a:r>
                        <a:rPr sz="1400" spc="-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5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30%</a:t>
                      </a:r>
                      <a:r>
                        <a:rPr sz="1400" spc="-2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.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92075" marR="146685" indent="184785">
                        <a:lnSpc>
                          <a:spcPct val="114999"/>
                        </a:lnSpc>
                        <a:buChar char="•"/>
                        <a:tabLst>
                          <a:tab pos="276860" algn="l"/>
                        </a:tabLst>
                      </a:pP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Deliver</a:t>
                      </a:r>
                      <a:r>
                        <a:rPr sz="1400" spc="3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exceptional</a:t>
                      </a:r>
                      <a:r>
                        <a:rPr sz="1400" spc="4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r>
                        <a:rPr sz="1400" spc="5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400" spc="3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improve</a:t>
                      </a:r>
                      <a:r>
                        <a:rPr sz="1400" spc="3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retention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rates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by up</a:t>
                      </a:r>
                      <a:r>
                        <a:rPr sz="1400" spc="-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400" spc="-2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55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40%</a:t>
                      </a:r>
                      <a:r>
                        <a:rPr sz="1400" spc="-1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solidFill>
                            <a:srgbClr val="00492D"/>
                          </a:solidFill>
                          <a:latin typeface="Arial MT"/>
                          <a:cs typeface="Arial MT"/>
                        </a:rPr>
                        <a:t>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9715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715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715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solidFill>
                      <a:srgbClr val="25A9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715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715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8433816" y="102107"/>
            <a:ext cx="506095" cy="508000"/>
          </a:xfrm>
          <a:custGeom>
            <a:avLst/>
            <a:gdLst/>
            <a:ahLst/>
            <a:cxnLst/>
            <a:rect l="l" t="t" r="r" b="b"/>
            <a:pathLst>
              <a:path w="506095" h="508000">
                <a:moveTo>
                  <a:pt x="505968" y="0"/>
                </a:moveTo>
                <a:lnTo>
                  <a:pt x="0" y="0"/>
                </a:lnTo>
                <a:lnTo>
                  <a:pt x="0" y="507491"/>
                </a:lnTo>
                <a:lnTo>
                  <a:pt x="505968" y="507491"/>
                </a:lnTo>
                <a:lnTo>
                  <a:pt x="505968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86800" y="4860035"/>
            <a:ext cx="119380" cy="119380"/>
          </a:xfrm>
          <a:custGeom>
            <a:avLst/>
            <a:gdLst/>
            <a:ahLst/>
            <a:cxnLst/>
            <a:rect l="l" t="t" r="r" b="b"/>
            <a:pathLst>
              <a:path w="119379" h="119379">
                <a:moveTo>
                  <a:pt x="118872" y="0"/>
                </a:moveTo>
                <a:lnTo>
                  <a:pt x="0" y="0"/>
                </a:lnTo>
                <a:lnTo>
                  <a:pt x="0" y="118871"/>
                </a:lnTo>
                <a:lnTo>
                  <a:pt x="118872" y="118871"/>
                </a:lnTo>
                <a:lnTo>
                  <a:pt x="118872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Marketing</a:t>
            </a:r>
            <a:r>
              <a:rPr spc="-150" dirty="0"/>
              <a:t> </a:t>
            </a:r>
            <a:r>
              <a:rPr spc="-120" dirty="0"/>
              <a:t>and</a:t>
            </a:r>
            <a:r>
              <a:rPr spc="-135" dirty="0"/>
              <a:t> </a:t>
            </a:r>
            <a:r>
              <a:rPr spc="-70" dirty="0"/>
              <a:t>Sales</a:t>
            </a:r>
            <a:r>
              <a:rPr spc="-130" dirty="0"/>
              <a:t> </a:t>
            </a:r>
            <a:r>
              <a:rPr spc="-80" dirty="0"/>
              <a:t>Strategy</a:t>
            </a:r>
          </a:p>
        </p:txBody>
      </p:sp>
      <p:sp>
        <p:nvSpPr>
          <p:cNvPr id="4" name="object 4"/>
          <p:cNvSpPr/>
          <p:nvPr/>
        </p:nvSpPr>
        <p:spPr>
          <a:xfrm>
            <a:off x="216408" y="763523"/>
            <a:ext cx="8471535" cy="0"/>
          </a:xfrm>
          <a:custGeom>
            <a:avLst/>
            <a:gdLst/>
            <a:ahLst/>
            <a:cxnLst/>
            <a:rect l="l" t="t" r="r" b="b"/>
            <a:pathLst>
              <a:path w="8471535">
                <a:moveTo>
                  <a:pt x="0" y="0"/>
                </a:moveTo>
                <a:lnTo>
                  <a:pt x="8471154" y="0"/>
                </a:lnTo>
              </a:path>
            </a:pathLst>
          </a:custGeom>
          <a:ln w="9144">
            <a:solidFill>
              <a:srgbClr val="00492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67654" y="1915794"/>
            <a:ext cx="3644900" cy="1959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00492D"/>
                </a:solidFill>
                <a:latin typeface="Arial"/>
                <a:cs typeface="Arial"/>
              </a:rPr>
              <a:t>Sources:</a:t>
            </a:r>
            <a:endParaRPr sz="1300">
              <a:latin typeface="Arial"/>
              <a:cs typeface="Arial"/>
            </a:endParaRPr>
          </a:p>
          <a:p>
            <a:pPr marL="469900" marR="109855" indent="-285115">
              <a:lnSpc>
                <a:spcPct val="114399"/>
              </a:lnSpc>
              <a:spcBef>
                <a:spcPts val="1265"/>
              </a:spcBef>
              <a:buClr>
                <a:srgbClr val="000000"/>
              </a:buClr>
              <a:buAutoNum type="arabicPeriod"/>
              <a:tabLst>
                <a:tab pos="469900" algn="l"/>
              </a:tabLst>
            </a:pPr>
            <a:r>
              <a:rPr sz="900" u="sng" spc="-10" dirty="0">
                <a:solidFill>
                  <a:srgbClr val="25A96C"/>
                </a:solidFill>
                <a:uFill>
                  <a:solidFill>
                    <a:srgbClr val="25A96C"/>
                  </a:solidFill>
                </a:uFill>
                <a:latin typeface="Arial MT"/>
                <a:cs typeface="Arial MT"/>
                <a:hlinkClick r:id="rId2"/>
              </a:rPr>
              <a:t>blog.hubspot.com</a:t>
            </a:r>
            <a:r>
              <a:rPr sz="900" spc="-25" dirty="0">
                <a:solidFill>
                  <a:srgbClr val="25A96C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–</a:t>
            </a:r>
            <a:r>
              <a:rPr sz="900" spc="2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Provides</a:t>
            </a:r>
            <a:r>
              <a:rPr sz="900" spc="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data on</a:t>
            </a:r>
            <a:r>
              <a:rPr sz="900" spc="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marketing</a:t>
            </a:r>
            <a:r>
              <a:rPr sz="900" spc="3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budget</a:t>
            </a:r>
            <a:r>
              <a:rPr sz="900" spc="-1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as</a:t>
            </a:r>
            <a:r>
              <a:rPr sz="900" spc="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spc="-50" dirty="0">
                <a:solidFill>
                  <a:srgbClr val="00492D"/>
                </a:solidFill>
                <a:latin typeface="Arial MT"/>
                <a:cs typeface="Arial MT"/>
              </a:rPr>
              <a:t>a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 percentage</a:t>
            </a:r>
            <a:r>
              <a:rPr sz="900" spc="-2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of</a:t>
            </a:r>
            <a:r>
              <a:rPr sz="900" spc="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revenue</a:t>
            </a:r>
            <a:r>
              <a:rPr sz="900" spc="-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and</a:t>
            </a:r>
            <a:r>
              <a:rPr sz="900" spc="1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industry</a:t>
            </a:r>
            <a:r>
              <a:rPr sz="900" spc="1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00492D"/>
                </a:solidFill>
                <a:latin typeface="Arial MT"/>
                <a:cs typeface="Arial MT"/>
              </a:rPr>
              <a:t>benchmarks.</a:t>
            </a:r>
            <a:endParaRPr sz="900">
              <a:latin typeface="Arial MT"/>
              <a:cs typeface="Arial MT"/>
            </a:endParaRPr>
          </a:p>
          <a:p>
            <a:pPr marL="469265" indent="-284480">
              <a:lnSpc>
                <a:spcPct val="100000"/>
              </a:lnSpc>
              <a:spcBef>
                <a:spcPts val="165"/>
              </a:spcBef>
              <a:buClr>
                <a:srgbClr val="000000"/>
              </a:buClr>
              <a:buAutoNum type="arabicPeriod"/>
              <a:tabLst>
                <a:tab pos="469265" algn="l"/>
              </a:tabLst>
            </a:pPr>
            <a:r>
              <a:rPr sz="900" u="sng" dirty="0">
                <a:solidFill>
                  <a:srgbClr val="25A96C"/>
                </a:solidFill>
                <a:uFill>
                  <a:solidFill>
                    <a:srgbClr val="25A96C"/>
                  </a:solidFill>
                </a:uFill>
                <a:latin typeface="Arial MT"/>
                <a:cs typeface="Arial MT"/>
                <a:hlinkClick r:id="rId3"/>
              </a:rPr>
              <a:t>Inbeat.agency</a:t>
            </a:r>
            <a:r>
              <a:rPr sz="900" dirty="0">
                <a:solidFill>
                  <a:srgbClr val="25A96C"/>
                </a:solidFill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–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Offers</a:t>
            </a:r>
            <a:r>
              <a:rPr sz="900" spc="-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statistics</a:t>
            </a:r>
            <a:r>
              <a:rPr sz="900" spc="3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on customer</a:t>
            </a:r>
            <a:r>
              <a:rPr sz="900" spc="-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acquisition</a:t>
            </a:r>
            <a:r>
              <a:rPr sz="900" spc="2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00492D"/>
                </a:solidFill>
                <a:latin typeface="Arial MT"/>
                <a:cs typeface="Arial MT"/>
              </a:rPr>
              <a:t>and</a:t>
            </a:r>
            <a:endParaRPr sz="9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conversion</a:t>
            </a:r>
            <a:r>
              <a:rPr sz="900" spc="-6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00492D"/>
                </a:solidFill>
                <a:latin typeface="Arial MT"/>
                <a:cs typeface="Arial MT"/>
              </a:rPr>
              <a:t>rates.</a:t>
            </a:r>
            <a:endParaRPr sz="900">
              <a:latin typeface="Arial MT"/>
              <a:cs typeface="Arial MT"/>
            </a:endParaRPr>
          </a:p>
          <a:p>
            <a:pPr marL="469900" marR="5080" indent="-285115">
              <a:lnSpc>
                <a:spcPct val="114399"/>
              </a:lnSpc>
              <a:spcBef>
                <a:spcPts val="10"/>
              </a:spcBef>
              <a:buClr>
                <a:srgbClr val="000000"/>
              </a:buClr>
              <a:buAutoNum type="arabicPeriod" startAt="3"/>
              <a:tabLst>
                <a:tab pos="469900" algn="l"/>
              </a:tabLst>
            </a:pPr>
            <a:r>
              <a:rPr sz="900" u="sng" dirty="0">
                <a:solidFill>
                  <a:srgbClr val="25A96C"/>
                </a:solidFill>
                <a:uFill>
                  <a:solidFill>
                    <a:srgbClr val="25A96C"/>
                  </a:solidFill>
                </a:uFill>
                <a:latin typeface="Arial MT"/>
                <a:cs typeface="Arial MT"/>
                <a:hlinkClick r:id="rId4"/>
              </a:rPr>
              <a:t>180ops.com</a:t>
            </a:r>
            <a:r>
              <a:rPr sz="900" spc="-15" dirty="0">
                <a:solidFill>
                  <a:srgbClr val="25A96C"/>
                </a:solidFill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–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Provides</a:t>
            </a:r>
            <a:r>
              <a:rPr sz="900" spc="1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insights</a:t>
            </a:r>
            <a:r>
              <a:rPr sz="900" spc="4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on</a:t>
            </a:r>
            <a:r>
              <a:rPr sz="900" spc="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00492D"/>
                </a:solidFill>
                <a:latin typeface="Arial MT"/>
                <a:cs typeface="Arial MT"/>
              </a:rPr>
              <a:t>ROI</a:t>
            </a:r>
            <a:r>
              <a:rPr sz="900" spc="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from</a:t>
            </a:r>
            <a:r>
              <a:rPr sz="900" spc="1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digital</a:t>
            </a:r>
            <a:r>
              <a:rPr sz="900" spc="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and</a:t>
            </a:r>
            <a:r>
              <a:rPr sz="900" spc="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00492D"/>
                </a:solidFill>
                <a:latin typeface="Arial MT"/>
                <a:cs typeface="Arial MT"/>
              </a:rPr>
              <a:t>email </a:t>
            </a:r>
            <a:r>
              <a:rPr sz="900" spc="-10" dirty="0">
                <a:solidFill>
                  <a:srgbClr val="00492D"/>
                </a:solidFill>
                <a:latin typeface="Arial MT"/>
                <a:cs typeface="Arial MT"/>
              </a:rPr>
              <a:t>marketing.</a:t>
            </a:r>
            <a:endParaRPr sz="900">
              <a:latin typeface="Arial MT"/>
              <a:cs typeface="Arial MT"/>
            </a:endParaRPr>
          </a:p>
          <a:p>
            <a:pPr marL="469900" marR="277495" indent="-285115">
              <a:lnSpc>
                <a:spcPct val="114399"/>
              </a:lnSpc>
              <a:spcBef>
                <a:spcPts val="15"/>
              </a:spcBef>
              <a:buClr>
                <a:srgbClr val="000000"/>
              </a:buClr>
              <a:buAutoNum type="arabicPeriod" startAt="3"/>
              <a:tabLst>
                <a:tab pos="469900" algn="l"/>
              </a:tabLst>
            </a:pPr>
            <a:r>
              <a:rPr sz="900" u="sng" spc="-10" dirty="0">
                <a:solidFill>
                  <a:srgbClr val="25A96C"/>
                </a:solidFill>
                <a:uFill>
                  <a:solidFill>
                    <a:srgbClr val="25A96C"/>
                  </a:solidFill>
                </a:uFill>
                <a:latin typeface="Arial MT"/>
                <a:cs typeface="Arial MT"/>
                <a:hlinkClick r:id="rId5"/>
              </a:rPr>
              <a:t>blog.revpartners.io</a:t>
            </a:r>
            <a:r>
              <a:rPr sz="900" spc="30" dirty="0">
                <a:solidFill>
                  <a:srgbClr val="25A96C"/>
                </a:solidFill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–</a:t>
            </a:r>
            <a:r>
              <a:rPr sz="900" spc="50" dirty="0"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Offers</a:t>
            </a:r>
            <a:r>
              <a:rPr sz="900" spc="2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data</a:t>
            </a:r>
            <a:r>
              <a:rPr sz="900" spc="3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on</a:t>
            </a:r>
            <a:r>
              <a:rPr sz="900" spc="3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influencer</a:t>
            </a:r>
            <a:r>
              <a:rPr sz="900" spc="1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00492D"/>
                </a:solidFill>
                <a:latin typeface="Arial MT"/>
                <a:cs typeface="Arial MT"/>
              </a:rPr>
              <a:t>marketing effectiveness.</a:t>
            </a:r>
            <a:endParaRPr sz="900">
              <a:latin typeface="Arial MT"/>
              <a:cs typeface="Arial MT"/>
            </a:endParaRPr>
          </a:p>
          <a:p>
            <a:pPr marL="469900" marR="250190" indent="-285115">
              <a:lnSpc>
                <a:spcPts val="1250"/>
              </a:lnSpc>
              <a:spcBef>
                <a:spcPts val="55"/>
              </a:spcBef>
              <a:buClr>
                <a:srgbClr val="000000"/>
              </a:buClr>
              <a:buAutoNum type="arabicPeriod" startAt="3"/>
              <a:tabLst>
                <a:tab pos="469900" algn="l"/>
              </a:tabLst>
            </a:pP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Additional</a:t>
            </a:r>
            <a:r>
              <a:rPr sz="900" spc="5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00492D"/>
                </a:solidFill>
                <a:latin typeface="Arial MT"/>
                <a:cs typeface="Arial MT"/>
              </a:rPr>
              <a:t>research</a:t>
            </a:r>
            <a:r>
              <a:rPr sz="900" spc="4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from</a:t>
            </a:r>
            <a:r>
              <a:rPr sz="900" spc="6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Statista</a:t>
            </a:r>
            <a:r>
              <a:rPr sz="900" spc="7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and</a:t>
            </a:r>
            <a:r>
              <a:rPr sz="900" spc="6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industry</a:t>
            </a:r>
            <a:r>
              <a:rPr sz="900" spc="8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reports</a:t>
            </a:r>
            <a:r>
              <a:rPr sz="900" spc="5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00492D"/>
                </a:solidFill>
                <a:latin typeface="Arial MT"/>
                <a:cs typeface="Arial MT"/>
              </a:rPr>
              <a:t>on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social</a:t>
            </a:r>
            <a:r>
              <a:rPr sz="900" spc="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media</a:t>
            </a:r>
            <a:r>
              <a:rPr sz="900" spc="2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00492D"/>
                </a:solidFill>
                <a:latin typeface="Arial MT"/>
                <a:cs typeface="Arial MT"/>
              </a:rPr>
              <a:t>reach</a:t>
            </a:r>
            <a:r>
              <a:rPr sz="900" spc="1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and</a:t>
            </a:r>
            <a:r>
              <a:rPr sz="900" spc="-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digital</a:t>
            </a:r>
            <a:r>
              <a:rPr sz="900" spc="3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492D"/>
                </a:solidFill>
                <a:latin typeface="Arial MT"/>
                <a:cs typeface="Arial MT"/>
              </a:rPr>
              <a:t>marketing</a:t>
            </a:r>
            <a:r>
              <a:rPr sz="900" spc="2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00492D"/>
                </a:solidFill>
                <a:latin typeface="Arial MT"/>
                <a:cs typeface="Arial MT"/>
              </a:rPr>
              <a:t>benchmarks.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33816" y="102107"/>
            <a:ext cx="506095" cy="508000"/>
          </a:xfrm>
          <a:custGeom>
            <a:avLst/>
            <a:gdLst/>
            <a:ahLst/>
            <a:cxnLst/>
            <a:rect l="l" t="t" r="r" b="b"/>
            <a:pathLst>
              <a:path w="506095" h="508000">
                <a:moveTo>
                  <a:pt x="505968" y="0"/>
                </a:moveTo>
                <a:lnTo>
                  <a:pt x="0" y="0"/>
                </a:lnTo>
                <a:lnTo>
                  <a:pt x="0" y="507491"/>
                </a:lnTo>
                <a:lnTo>
                  <a:pt x="505968" y="507491"/>
                </a:lnTo>
                <a:lnTo>
                  <a:pt x="505968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6408" y="891539"/>
            <a:ext cx="5071872" cy="366217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86800" y="4860035"/>
            <a:ext cx="119380" cy="119380"/>
          </a:xfrm>
          <a:custGeom>
            <a:avLst/>
            <a:gdLst/>
            <a:ahLst/>
            <a:cxnLst/>
            <a:rect l="l" t="t" r="r" b="b"/>
            <a:pathLst>
              <a:path w="119379" h="119379">
                <a:moveTo>
                  <a:pt x="118872" y="0"/>
                </a:moveTo>
                <a:lnTo>
                  <a:pt x="0" y="0"/>
                </a:lnTo>
                <a:lnTo>
                  <a:pt x="0" y="118871"/>
                </a:lnTo>
                <a:lnTo>
                  <a:pt x="118872" y="118871"/>
                </a:lnTo>
                <a:lnTo>
                  <a:pt x="118872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1640" y="196341"/>
            <a:ext cx="27114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Operation</a:t>
            </a:r>
            <a:r>
              <a:rPr spc="-175" dirty="0"/>
              <a:t> </a:t>
            </a:r>
            <a:r>
              <a:rPr spc="-40" dirty="0"/>
              <a:t>Plan</a:t>
            </a:r>
          </a:p>
        </p:txBody>
      </p:sp>
      <p:sp>
        <p:nvSpPr>
          <p:cNvPr id="4" name="object 4"/>
          <p:cNvSpPr/>
          <p:nvPr/>
        </p:nvSpPr>
        <p:spPr>
          <a:xfrm>
            <a:off x="216408" y="763523"/>
            <a:ext cx="8471535" cy="0"/>
          </a:xfrm>
          <a:custGeom>
            <a:avLst/>
            <a:gdLst/>
            <a:ahLst/>
            <a:cxnLst/>
            <a:rect l="l" t="t" r="r" b="b"/>
            <a:pathLst>
              <a:path w="8471535">
                <a:moveTo>
                  <a:pt x="0" y="0"/>
                </a:moveTo>
                <a:lnTo>
                  <a:pt x="8471154" y="0"/>
                </a:lnTo>
              </a:path>
            </a:pathLst>
          </a:custGeom>
          <a:ln w="9144">
            <a:solidFill>
              <a:srgbClr val="00492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433816" y="102107"/>
            <a:ext cx="506095" cy="508000"/>
          </a:xfrm>
          <a:custGeom>
            <a:avLst/>
            <a:gdLst/>
            <a:ahLst/>
            <a:cxnLst/>
            <a:rect l="l" t="t" r="r" b="b"/>
            <a:pathLst>
              <a:path w="506095" h="508000">
                <a:moveTo>
                  <a:pt x="505968" y="0"/>
                </a:moveTo>
                <a:lnTo>
                  <a:pt x="0" y="0"/>
                </a:lnTo>
                <a:lnTo>
                  <a:pt x="0" y="507491"/>
                </a:lnTo>
                <a:lnTo>
                  <a:pt x="505968" y="507491"/>
                </a:lnTo>
                <a:lnTo>
                  <a:pt x="505968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9214" y="944080"/>
            <a:ext cx="7541895" cy="375094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35280" indent="-322580">
              <a:lnSpc>
                <a:spcPct val="100000"/>
              </a:lnSpc>
              <a:spcBef>
                <a:spcPts val="200"/>
              </a:spcBef>
              <a:buFont typeface="Times New Roman"/>
              <a:buChar char="●"/>
              <a:tabLst>
                <a:tab pos="335280" algn="l"/>
              </a:tabLst>
            </a:pPr>
            <a:r>
              <a:rPr sz="1500" b="1" spc="-20" dirty="0">
                <a:solidFill>
                  <a:srgbClr val="00492D"/>
                </a:solidFill>
                <a:latin typeface="Arial"/>
                <a:cs typeface="Arial"/>
              </a:rPr>
              <a:t>Product</a:t>
            </a:r>
            <a:r>
              <a:rPr sz="1500" b="1" spc="-6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92D"/>
                </a:solidFill>
                <a:latin typeface="Arial"/>
                <a:cs typeface="Arial"/>
              </a:rPr>
              <a:t>Development:</a:t>
            </a:r>
            <a:endParaRPr sz="1500">
              <a:latin typeface="Arial"/>
              <a:cs typeface="Arial"/>
            </a:endParaRPr>
          </a:p>
          <a:p>
            <a:pPr marL="792480" lvl="1" indent="-324485">
              <a:lnSpc>
                <a:spcPts val="1764"/>
              </a:lnSpc>
              <a:spcBef>
                <a:spcPts val="110"/>
              </a:spcBef>
              <a:buChar char="○"/>
              <a:tabLst>
                <a:tab pos="792480" algn="l"/>
              </a:tabLst>
            </a:pPr>
            <a:r>
              <a:rPr sz="1500" dirty="0">
                <a:latin typeface="Arial MT"/>
                <a:cs typeface="Arial MT"/>
              </a:rPr>
              <a:t>Build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user-friendly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platform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(website +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app)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for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artists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buyers.</a:t>
            </a:r>
            <a:endParaRPr sz="1500">
              <a:latin typeface="Arial MT"/>
              <a:cs typeface="Arial MT"/>
            </a:endParaRPr>
          </a:p>
          <a:p>
            <a:pPr marL="792480" lvl="1" indent="-324485">
              <a:lnSpc>
                <a:spcPts val="1685"/>
              </a:lnSpc>
              <a:buChar char="○"/>
              <a:tabLst>
                <a:tab pos="792480" algn="l"/>
              </a:tabLst>
            </a:pPr>
            <a:r>
              <a:rPr sz="1500" dirty="0">
                <a:latin typeface="Arial MT"/>
                <a:cs typeface="Arial MT"/>
              </a:rPr>
              <a:t>Features: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Artist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profiles, physical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art listings,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secure payments,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10" dirty="0">
                <a:latin typeface="Arial MT"/>
                <a:cs typeface="Arial MT"/>
              </a:rPr>
              <a:t> messaging.</a:t>
            </a:r>
            <a:endParaRPr sz="1500">
              <a:latin typeface="Arial MT"/>
              <a:cs typeface="Arial MT"/>
            </a:endParaRPr>
          </a:p>
          <a:p>
            <a:pPr marL="792480" lvl="1" indent="-324485">
              <a:lnSpc>
                <a:spcPts val="1720"/>
              </a:lnSpc>
              <a:buChar char="○"/>
              <a:tabLst>
                <a:tab pos="792480" algn="l"/>
              </a:tabLst>
            </a:pPr>
            <a:r>
              <a:rPr sz="1500" dirty="0">
                <a:latin typeface="Arial MT"/>
                <a:cs typeface="Arial MT"/>
              </a:rPr>
              <a:t>Agile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development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with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iterative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testing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updates.</a:t>
            </a:r>
            <a:endParaRPr sz="15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710"/>
              </a:spcBef>
              <a:buFont typeface="Arial MT"/>
              <a:buChar char="○"/>
            </a:pPr>
            <a:endParaRPr sz="1500">
              <a:latin typeface="Arial MT"/>
              <a:cs typeface="Arial MT"/>
            </a:endParaRPr>
          </a:p>
          <a:p>
            <a:pPr marL="335280" indent="-322580">
              <a:lnSpc>
                <a:spcPct val="100000"/>
              </a:lnSpc>
              <a:buFont typeface="Times New Roman"/>
              <a:buChar char="●"/>
              <a:tabLst>
                <a:tab pos="335280" algn="l"/>
              </a:tabLst>
            </a:pPr>
            <a:r>
              <a:rPr sz="1500" b="1" spc="-40" dirty="0">
                <a:solidFill>
                  <a:srgbClr val="00492D"/>
                </a:solidFill>
                <a:latin typeface="Arial"/>
                <a:cs typeface="Arial"/>
              </a:rPr>
              <a:t>Logistic</a:t>
            </a:r>
            <a:r>
              <a:rPr sz="1500" b="1" spc="-6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492D"/>
                </a:solidFill>
                <a:latin typeface="Arial"/>
                <a:cs typeface="Arial"/>
              </a:rPr>
              <a:t>and</a:t>
            </a:r>
            <a:r>
              <a:rPr sz="1500" b="1" spc="-6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00492D"/>
                </a:solidFill>
                <a:latin typeface="Arial"/>
                <a:cs typeface="Arial"/>
              </a:rPr>
              <a:t>Supply</a:t>
            </a:r>
            <a:r>
              <a:rPr sz="1500" b="1" spc="-6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92D"/>
                </a:solidFill>
                <a:latin typeface="Arial"/>
                <a:cs typeface="Arial"/>
              </a:rPr>
              <a:t>Chain:</a:t>
            </a:r>
            <a:endParaRPr sz="1500">
              <a:latin typeface="Arial"/>
              <a:cs typeface="Arial"/>
            </a:endParaRPr>
          </a:p>
          <a:p>
            <a:pPr marL="792480" lvl="1" indent="-324485">
              <a:lnSpc>
                <a:spcPts val="1760"/>
              </a:lnSpc>
              <a:spcBef>
                <a:spcPts val="120"/>
              </a:spcBef>
              <a:buChar char="○"/>
              <a:tabLst>
                <a:tab pos="792480" algn="l"/>
              </a:tabLst>
            </a:pPr>
            <a:r>
              <a:rPr sz="1500" dirty="0">
                <a:latin typeface="Arial MT"/>
                <a:cs typeface="Arial MT"/>
              </a:rPr>
              <a:t>Artists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manage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listings,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packaging,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shipping; platform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provides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guidelines.</a:t>
            </a:r>
            <a:endParaRPr sz="1500">
              <a:latin typeface="Arial MT"/>
              <a:cs typeface="Arial MT"/>
            </a:endParaRPr>
          </a:p>
          <a:p>
            <a:pPr marL="792480" lvl="1" indent="-324485">
              <a:lnSpc>
                <a:spcPts val="1680"/>
              </a:lnSpc>
              <a:buChar char="○"/>
              <a:tabLst>
                <a:tab pos="792480" algn="l"/>
              </a:tabLst>
            </a:pPr>
            <a:r>
              <a:rPr sz="1500" dirty="0">
                <a:latin typeface="Arial MT"/>
                <a:cs typeface="Arial MT"/>
              </a:rPr>
              <a:t>Partner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with</a:t>
            </a:r>
            <a:r>
              <a:rPr sz="1500" spc="1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third-</a:t>
            </a:r>
            <a:r>
              <a:rPr sz="1500" dirty="0">
                <a:latin typeface="Arial MT"/>
                <a:cs typeface="Arial MT"/>
              </a:rPr>
              <a:t>party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logistics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for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reliable,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affordable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shipping.</a:t>
            </a:r>
            <a:endParaRPr sz="1500">
              <a:latin typeface="Arial MT"/>
              <a:cs typeface="Arial MT"/>
            </a:endParaRPr>
          </a:p>
          <a:p>
            <a:pPr marL="792480" lvl="1" indent="-324485">
              <a:lnSpc>
                <a:spcPts val="1720"/>
              </a:lnSpc>
              <a:buChar char="○"/>
              <a:tabLst>
                <a:tab pos="792480" algn="l"/>
              </a:tabLst>
            </a:pPr>
            <a:r>
              <a:rPr sz="1500" dirty="0">
                <a:latin typeface="Arial MT"/>
                <a:cs typeface="Arial MT"/>
              </a:rPr>
              <a:t>Implement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order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tracking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for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buyers.</a:t>
            </a:r>
            <a:endParaRPr sz="15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Arial MT"/>
              <a:buChar char="○"/>
            </a:pPr>
            <a:endParaRPr sz="15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835"/>
              </a:spcBef>
              <a:buFont typeface="Arial MT"/>
              <a:buChar char="○"/>
            </a:pPr>
            <a:endParaRPr sz="1500">
              <a:latin typeface="Arial MT"/>
              <a:cs typeface="Arial MT"/>
            </a:endParaRPr>
          </a:p>
          <a:p>
            <a:pPr marL="335280" indent="-322580">
              <a:lnSpc>
                <a:spcPct val="100000"/>
              </a:lnSpc>
              <a:buFont typeface="Times New Roman"/>
              <a:buChar char="●"/>
              <a:tabLst>
                <a:tab pos="335280" algn="l"/>
              </a:tabLst>
            </a:pPr>
            <a:r>
              <a:rPr sz="1500" b="1" spc="-35" dirty="0">
                <a:solidFill>
                  <a:srgbClr val="00492D"/>
                </a:solidFill>
                <a:latin typeface="Arial"/>
                <a:cs typeface="Arial"/>
              </a:rPr>
              <a:t>Physical</a:t>
            </a:r>
            <a:r>
              <a:rPr sz="1500" b="1" spc="-6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92D"/>
                </a:solidFill>
                <a:latin typeface="Arial"/>
                <a:cs typeface="Arial"/>
              </a:rPr>
              <a:t>Assets</a:t>
            </a:r>
            <a:endParaRPr sz="1500">
              <a:latin typeface="Arial"/>
              <a:cs typeface="Arial"/>
            </a:endParaRPr>
          </a:p>
          <a:p>
            <a:pPr marL="792480" lvl="1" indent="-324485">
              <a:lnSpc>
                <a:spcPts val="1764"/>
              </a:lnSpc>
              <a:spcBef>
                <a:spcPts val="110"/>
              </a:spcBef>
              <a:buChar char="○"/>
              <a:tabLst>
                <a:tab pos="792480" algn="l"/>
              </a:tabLst>
            </a:pPr>
            <a:r>
              <a:rPr sz="1500" dirty="0">
                <a:latin typeface="Arial MT"/>
                <a:cs typeface="Arial MT"/>
              </a:rPr>
              <a:t>Office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space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(or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remote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setup) for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core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team </a:t>
            </a:r>
            <a:r>
              <a:rPr sz="1500" spc="-10" dirty="0">
                <a:latin typeface="Arial MT"/>
                <a:cs typeface="Arial MT"/>
              </a:rPr>
              <a:t>operations.</a:t>
            </a:r>
            <a:endParaRPr sz="1500">
              <a:latin typeface="Arial MT"/>
              <a:cs typeface="Arial MT"/>
            </a:endParaRPr>
          </a:p>
          <a:p>
            <a:pPr marL="792480" lvl="1" indent="-324485">
              <a:lnSpc>
                <a:spcPts val="1764"/>
              </a:lnSpc>
              <a:buChar char="○"/>
              <a:tabLst>
                <a:tab pos="792480" algn="l"/>
              </a:tabLst>
            </a:pPr>
            <a:r>
              <a:rPr sz="1500" dirty="0">
                <a:latin typeface="Arial MT"/>
                <a:cs typeface="Arial MT"/>
              </a:rPr>
              <a:t>Servers/cloud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hosting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for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platform</a:t>
            </a:r>
            <a:r>
              <a:rPr sz="1500" spc="-10" dirty="0">
                <a:latin typeface="Arial MT"/>
                <a:cs typeface="Arial MT"/>
              </a:rPr>
              <a:t> infrastructure.</a:t>
            </a:r>
            <a:endParaRPr sz="1500">
              <a:latin typeface="Arial MT"/>
              <a:cs typeface="Arial MT"/>
            </a:endParaRPr>
          </a:p>
          <a:p>
            <a:pPr marL="792480" lvl="1" indent="-316865">
              <a:lnSpc>
                <a:spcPct val="100000"/>
              </a:lnSpc>
              <a:spcBef>
                <a:spcPts val="110"/>
              </a:spcBef>
              <a:buClr>
                <a:srgbClr val="00492D"/>
              </a:buClr>
              <a:buSzPct val="93333"/>
              <a:buFont typeface="Times New Roman"/>
              <a:buChar char="○"/>
              <a:tabLst>
                <a:tab pos="792480" algn="l"/>
              </a:tabLst>
            </a:pPr>
            <a:r>
              <a:rPr sz="1500" dirty="0">
                <a:latin typeface="Arial MT"/>
                <a:cs typeface="Arial MT"/>
              </a:rPr>
              <a:t>Basic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office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equipment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(computers, </a:t>
            </a:r>
            <a:r>
              <a:rPr sz="1500" spc="-10" dirty="0">
                <a:latin typeface="Arial MT"/>
                <a:cs typeface="Arial MT"/>
              </a:rPr>
              <a:t>software).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86800" y="4860035"/>
            <a:ext cx="119380" cy="119380"/>
          </a:xfrm>
          <a:custGeom>
            <a:avLst/>
            <a:gdLst/>
            <a:ahLst/>
            <a:cxnLst/>
            <a:rect l="l" t="t" r="r" b="b"/>
            <a:pathLst>
              <a:path w="119379" h="119379">
                <a:moveTo>
                  <a:pt x="118872" y="0"/>
                </a:moveTo>
                <a:lnTo>
                  <a:pt x="0" y="0"/>
                </a:lnTo>
                <a:lnTo>
                  <a:pt x="0" y="118871"/>
                </a:lnTo>
                <a:lnTo>
                  <a:pt x="118872" y="118871"/>
                </a:lnTo>
                <a:lnTo>
                  <a:pt x="118872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1640" y="196341"/>
            <a:ext cx="27114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Operation</a:t>
            </a:r>
            <a:r>
              <a:rPr spc="-175" dirty="0"/>
              <a:t> </a:t>
            </a:r>
            <a:r>
              <a:rPr spc="-40" dirty="0"/>
              <a:t>Plan</a:t>
            </a:r>
          </a:p>
        </p:txBody>
      </p:sp>
      <p:sp>
        <p:nvSpPr>
          <p:cNvPr id="4" name="object 4"/>
          <p:cNvSpPr/>
          <p:nvPr/>
        </p:nvSpPr>
        <p:spPr>
          <a:xfrm>
            <a:off x="216408" y="763523"/>
            <a:ext cx="8471535" cy="0"/>
          </a:xfrm>
          <a:custGeom>
            <a:avLst/>
            <a:gdLst/>
            <a:ahLst/>
            <a:cxnLst/>
            <a:rect l="l" t="t" r="r" b="b"/>
            <a:pathLst>
              <a:path w="8471535">
                <a:moveTo>
                  <a:pt x="0" y="0"/>
                </a:moveTo>
                <a:lnTo>
                  <a:pt x="8471154" y="0"/>
                </a:lnTo>
              </a:path>
            </a:pathLst>
          </a:custGeom>
          <a:ln w="9144">
            <a:solidFill>
              <a:srgbClr val="00492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433816" y="102107"/>
            <a:ext cx="506095" cy="508000"/>
          </a:xfrm>
          <a:custGeom>
            <a:avLst/>
            <a:gdLst/>
            <a:ahLst/>
            <a:cxnLst/>
            <a:rect l="l" t="t" r="r" b="b"/>
            <a:pathLst>
              <a:path w="506095" h="508000">
                <a:moveTo>
                  <a:pt x="505968" y="0"/>
                </a:moveTo>
                <a:lnTo>
                  <a:pt x="0" y="0"/>
                </a:lnTo>
                <a:lnTo>
                  <a:pt x="0" y="507491"/>
                </a:lnTo>
                <a:lnTo>
                  <a:pt x="505968" y="507491"/>
                </a:lnTo>
                <a:lnTo>
                  <a:pt x="505968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5310" y="1087577"/>
            <a:ext cx="4796790" cy="3463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05"/>
              </a:spcBef>
              <a:buFont typeface="Times New Roman"/>
              <a:buChar char="●"/>
              <a:tabLst>
                <a:tab pos="329565" algn="l"/>
              </a:tabLst>
            </a:pPr>
            <a:r>
              <a:rPr sz="1400" b="1" spc="-20" dirty="0">
                <a:solidFill>
                  <a:srgbClr val="00492D"/>
                </a:solidFill>
                <a:latin typeface="Arial"/>
                <a:cs typeface="Arial"/>
              </a:rPr>
              <a:t>Teams</a:t>
            </a:r>
            <a:r>
              <a:rPr sz="1400" b="1" spc="-7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492D"/>
                </a:solidFill>
                <a:latin typeface="Arial"/>
                <a:cs typeface="Arial"/>
              </a:rPr>
              <a:t>and</a:t>
            </a:r>
            <a:r>
              <a:rPr sz="1400" b="1" spc="-7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492D"/>
                </a:solidFill>
                <a:latin typeface="Arial"/>
                <a:cs typeface="Arial"/>
              </a:rPr>
              <a:t>Roles:</a:t>
            </a:r>
            <a:endParaRPr sz="1400">
              <a:latin typeface="Arial"/>
              <a:cs typeface="Arial"/>
            </a:endParaRPr>
          </a:p>
          <a:p>
            <a:pPr marL="786765" lvl="1" indent="-318770">
              <a:lnSpc>
                <a:spcPts val="1645"/>
              </a:lnSpc>
              <a:spcBef>
                <a:spcPts val="15"/>
              </a:spcBef>
              <a:buFont typeface="Arial MT"/>
              <a:buChar char="○"/>
              <a:tabLst>
                <a:tab pos="786765" algn="l"/>
              </a:tabLst>
            </a:pPr>
            <a:r>
              <a:rPr sz="1400" b="1" spc="-30" dirty="0">
                <a:latin typeface="Arial"/>
                <a:cs typeface="Arial"/>
              </a:rPr>
              <a:t>CEO/Founder:</a:t>
            </a:r>
            <a:r>
              <a:rPr sz="1400" b="1" spc="7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Strategy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vision.</a:t>
            </a:r>
            <a:endParaRPr sz="1400">
              <a:latin typeface="Arial MT"/>
              <a:cs typeface="Arial MT"/>
            </a:endParaRPr>
          </a:p>
          <a:p>
            <a:pPr marL="786765" lvl="1" indent="-318770">
              <a:lnSpc>
                <a:spcPts val="1610"/>
              </a:lnSpc>
              <a:buFont typeface="Arial MT"/>
              <a:buChar char="○"/>
              <a:tabLst>
                <a:tab pos="786765" algn="l"/>
              </a:tabLst>
            </a:pPr>
            <a:r>
              <a:rPr sz="1400" b="1" spc="-25" dirty="0">
                <a:latin typeface="Arial"/>
                <a:cs typeface="Arial"/>
              </a:rPr>
              <a:t>CTO:</a:t>
            </a:r>
            <a:r>
              <a:rPr sz="1400" b="1" spc="9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Platform</a:t>
            </a:r>
            <a:r>
              <a:rPr sz="1400" spc="9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development.</a:t>
            </a:r>
            <a:endParaRPr sz="1400">
              <a:latin typeface="Arial MT"/>
              <a:cs typeface="Arial MT"/>
            </a:endParaRPr>
          </a:p>
          <a:p>
            <a:pPr marL="786765" lvl="1" indent="-318770">
              <a:lnSpc>
                <a:spcPts val="1614"/>
              </a:lnSpc>
              <a:buFont typeface="Arial MT"/>
              <a:buChar char="○"/>
              <a:tabLst>
                <a:tab pos="786765" algn="l"/>
              </a:tabLst>
            </a:pPr>
            <a:r>
              <a:rPr sz="1400" b="1" dirty="0">
                <a:latin typeface="Arial"/>
                <a:cs typeface="Arial"/>
              </a:rPr>
              <a:t>Marketing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Manager:</a:t>
            </a:r>
            <a:r>
              <a:rPr sz="1400" b="1" spc="1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Customer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acquisition.</a:t>
            </a:r>
            <a:endParaRPr sz="1400">
              <a:latin typeface="Arial MT"/>
              <a:cs typeface="Arial MT"/>
            </a:endParaRPr>
          </a:p>
          <a:p>
            <a:pPr marL="786765" lvl="1" indent="-318770">
              <a:lnSpc>
                <a:spcPts val="1614"/>
              </a:lnSpc>
              <a:buFont typeface="Arial MT"/>
              <a:buChar char="○"/>
              <a:tabLst>
                <a:tab pos="786765" algn="l"/>
              </a:tabLst>
            </a:pPr>
            <a:r>
              <a:rPr sz="1400" b="1" spc="-10" dirty="0">
                <a:latin typeface="Arial"/>
                <a:cs typeface="Arial"/>
              </a:rPr>
              <a:t>Operations</a:t>
            </a:r>
            <a:r>
              <a:rPr sz="1400" b="1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Manager: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Logistics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partnerships.</a:t>
            </a:r>
            <a:endParaRPr sz="1400">
              <a:latin typeface="Arial MT"/>
              <a:cs typeface="Arial MT"/>
            </a:endParaRPr>
          </a:p>
          <a:p>
            <a:pPr marL="786765" lvl="1" indent="-318770">
              <a:lnSpc>
                <a:spcPts val="1645"/>
              </a:lnSpc>
              <a:buFont typeface="Arial MT"/>
              <a:buChar char="○"/>
              <a:tabLst>
                <a:tab pos="786765" algn="l"/>
              </a:tabLst>
            </a:pPr>
            <a:r>
              <a:rPr sz="1400" b="1" dirty="0">
                <a:latin typeface="Arial"/>
                <a:cs typeface="Arial"/>
              </a:rPr>
              <a:t>Support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Team:</a:t>
            </a:r>
            <a:r>
              <a:rPr sz="1400" b="1" spc="-5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Query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resolution.</a:t>
            </a:r>
            <a:endParaRPr sz="14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Arial MT"/>
              <a:buChar char="○"/>
            </a:pPr>
            <a:endParaRPr sz="14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69"/>
              </a:spcBef>
              <a:buFont typeface="Arial MT"/>
              <a:buChar char="○"/>
            </a:pPr>
            <a:endParaRPr sz="1400">
              <a:latin typeface="Arial MT"/>
              <a:cs typeface="Arial MT"/>
            </a:endParaRPr>
          </a:p>
          <a:p>
            <a:pPr marL="329565" indent="-316865">
              <a:lnSpc>
                <a:spcPct val="100000"/>
              </a:lnSpc>
              <a:buFont typeface="Times New Roman"/>
              <a:buChar char="●"/>
              <a:tabLst>
                <a:tab pos="329565" algn="l"/>
              </a:tabLst>
            </a:pPr>
            <a:r>
              <a:rPr sz="1400" b="1" spc="-10" dirty="0">
                <a:solidFill>
                  <a:srgbClr val="00492D"/>
                </a:solidFill>
                <a:latin typeface="Arial"/>
                <a:cs typeface="Arial"/>
              </a:rPr>
              <a:t>Milestones</a:t>
            </a:r>
            <a:r>
              <a:rPr sz="1400" b="1" spc="-6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492D"/>
                </a:solidFill>
                <a:latin typeface="Arial"/>
                <a:cs typeface="Arial"/>
              </a:rPr>
              <a:t>and</a:t>
            </a:r>
            <a:r>
              <a:rPr sz="1400" b="1" spc="-9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492D"/>
                </a:solidFill>
                <a:latin typeface="Arial"/>
                <a:cs typeface="Arial"/>
              </a:rPr>
              <a:t>Timeline:</a:t>
            </a:r>
            <a:endParaRPr sz="1400">
              <a:latin typeface="Arial"/>
              <a:cs typeface="Arial"/>
            </a:endParaRPr>
          </a:p>
          <a:p>
            <a:pPr marL="786765" lvl="1" indent="-318770">
              <a:lnSpc>
                <a:spcPts val="1645"/>
              </a:lnSpc>
              <a:spcBef>
                <a:spcPts val="10"/>
              </a:spcBef>
              <a:buFont typeface="Arial MT"/>
              <a:buChar char="○"/>
              <a:tabLst>
                <a:tab pos="786765" algn="l"/>
              </a:tabLst>
            </a:pPr>
            <a:r>
              <a:rPr sz="1400" b="1" dirty="0">
                <a:latin typeface="Arial"/>
                <a:cs typeface="Arial"/>
              </a:rPr>
              <a:t>Month</a:t>
            </a:r>
            <a:r>
              <a:rPr sz="1400" b="1" spc="9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fi-3:</a:t>
            </a:r>
            <a:r>
              <a:rPr sz="1400" b="1" spc="8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Platform</a:t>
            </a:r>
            <a:r>
              <a:rPr sz="1400" spc="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design</a:t>
            </a:r>
            <a:r>
              <a:rPr sz="1400" spc="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8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MVP</a:t>
            </a:r>
            <a:endParaRPr sz="1400">
              <a:latin typeface="Arial MT"/>
              <a:cs typeface="Arial MT"/>
            </a:endParaRPr>
          </a:p>
          <a:p>
            <a:pPr marL="786765">
              <a:lnSpc>
                <a:spcPts val="1610"/>
              </a:lnSpc>
            </a:pPr>
            <a:r>
              <a:rPr sz="1400" spc="-10" dirty="0">
                <a:latin typeface="Arial MT"/>
                <a:cs typeface="Arial MT"/>
              </a:rPr>
              <a:t>development.</a:t>
            </a:r>
            <a:endParaRPr sz="1400">
              <a:latin typeface="Arial MT"/>
              <a:cs typeface="Arial MT"/>
            </a:endParaRPr>
          </a:p>
          <a:p>
            <a:pPr marL="786765" lvl="1" indent="-318770">
              <a:lnSpc>
                <a:spcPts val="1614"/>
              </a:lnSpc>
              <a:buFont typeface="Arial MT"/>
              <a:buChar char="○"/>
              <a:tabLst>
                <a:tab pos="786765" algn="l"/>
              </a:tabLst>
            </a:pPr>
            <a:r>
              <a:rPr sz="1400" b="1" dirty="0">
                <a:latin typeface="Arial"/>
                <a:cs typeface="Arial"/>
              </a:rPr>
              <a:t>Month</a:t>
            </a:r>
            <a:r>
              <a:rPr sz="1400" b="1" spc="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4:</a:t>
            </a:r>
            <a:r>
              <a:rPr sz="1400" b="1" spc="3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Beta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launch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75" dirty="0">
                <a:latin typeface="Arial MT"/>
                <a:cs typeface="Arial MT"/>
              </a:rPr>
              <a:t>with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select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artists/buyers.</a:t>
            </a:r>
            <a:endParaRPr sz="1400">
              <a:latin typeface="Arial MT"/>
              <a:cs typeface="Arial MT"/>
            </a:endParaRPr>
          </a:p>
          <a:p>
            <a:pPr marL="786765" lvl="1" indent="-318770">
              <a:lnSpc>
                <a:spcPts val="1614"/>
              </a:lnSpc>
              <a:buFont typeface="Arial MT"/>
              <a:buChar char="○"/>
              <a:tabLst>
                <a:tab pos="786765" algn="l"/>
              </a:tabLst>
            </a:pPr>
            <a:r>
              <a:rPr sz="1400" b="1" dirty="0">
                <a:latin typeface="Arial"/>
                <a:cs typeface="Arial"/>
              </a:rPr>
              <a:t>Month</a:t>
            </a:r>
            <a:r>
              <a:rPr sz="1400" b="1" spc="60" dirty="0">
                <a:latin typeface="Arial"/>
                <a:cs typeface="Arial"/>
              </a:rPr>
              <a:t> </a:t>
            </a:r>
            <a:r>
              <a:rPr sz="1400" b="1" spc="105" dirty="0">
                <a:latin typeface="Arial"/>
                <a:cs typeface="Arial"/>
              </a:rPr>
              <a:t>5-</a:t>
            </a:r>
            <a:r>
              <a:rPr sz="1400" b="1" dirty="0">
                <a:latin typeface="Arial"/>
                <a:cs typeface="Arial"/>
              </a:rPr>
              <a:t>6:</a:t>
            </a:r>
            <a:r>
              <a:rPr sz="1400" b="1" spc="10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Full</a:t>
            </a:r>
            <a:r>
              <a:rPr sz="1400" spc="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launch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+</a:t>
            </a:r>
            <a:r>
              <a:rPr sz="1400" spc="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marketing</a:t>
            </a:r>
            <a:r>
              <a:rPr sz="1400" spc="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campaign.</a:t>
            </a:r>
            <a:endParaRPr sz="1400">
              <a:latin typeface="Arial MT"/>
              <a:cs typeface="Arial MT"/>
            </a:endParaRPr>
          </a:p>
          <a:p>
            <a:pPr marL="786765" marR="5080" lvl="1" indent="-318770">
              <a:lnSpc>
                <a:spcPts val="1610"/>
              </a:lnSpc>
              <a:spcBef>
                <a:spcPts val="80"/>
              </a:spcBef>
              <a:buFont typeface="Arial MT"/>
              <a:buChar char="○"/>
              <a:tabLst>
                <a:tab pos="786765" algn="l"/>
              </a:tabLst>
            </a:pPr>
            <a:r>
              <a:rPr sz="1400" b="1" dirty="0">
                <a:latin typeface="Arial"/>
                <a:cs typeface="Arial"/>
              </a:rPr>
              <a:t>Month</a:t>
            </a:r>
            <a:r>
              <a:rPr sz="1400" b="1" spc="20" dirty="0">
                <a:latin typeface="Arial"/>
                <a:cs typeface="Arial"/>
              </a:rPr>
              <a:t> </a:t>
            </a:r>
            <a:r>
              <a:rPr sz="1400" b="1" spc="105" dirty="0">
                <a:latin typeface="Arial"/>
                <a:cs typeface="Arial"/>
              </a:rPr>
              <a:t>7-</a:t>
            </a:r>
            <a:r>
              <a:rPr sz="1400" b="1" dirty="0">
                <a:latin typeface="Arial"/>
                <a:cs typeface="Arial"/>
              </a:rPr>
              <a:t>9:</a:t>
            </a:r>
            <a:r>
              <a:rPr sz="1400" b="1" spc="1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Onboard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60" dirty="0">
                <a:latin typeface="Arial MT"/>
                <a:cs typeface="Arial MT"/>
              </a:rPr>
              <a:t>500+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artists,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acquire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1,000+ buyers.</a:t>
            </a:r>
            <a:endParaRPr sz="1400">
              <a:latin typeface="Arial MT"/>
              <a:cs typeface="Arial MT"/>
            </a:endParaRPr>
          </a:p>
          <a:p>
            <a:pPr marL="786765" lvl="1" indent="-318770">
              <a:lnSpc>
                <a:spcPts val="1575"/>
              </a:lnSpc>
              <a:buFont typeface="Arial MT"/>
              <a:buChar char="○"/>
              <a:tabLst>
                <a:tab pos="786765" algn="l"/>
              </a:tabLst>
            </a:pPr>
            <a:r>
              <a:rPr sz="1400" b="1" dirty="0">
                <a:latin typeface="Arial"/>
                <a:cs typeface="Arial"/>
              </a:rPr>
              <a:t>Month</a:t>
            </a:r>
            <a:r>
              <a:rPr sz="1400" b="1" spc="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fi2:</a:t>
            </a:r>
            <a:r>
              <a:rPr sz="1400" b="1" spc="2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Breakeven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70" dirty="0">
                <a:latin typeface="Arial MT"/>
                <a:cs typeface="Arial MT"/>
              </a:rPr>
              <a:t>with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5,000+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transactions.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9611" y="841247"/>
            <a:ext cx="2206751" cy="206197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93079" y="3002330"/>
            <a:ext cx="2993135" cy="198780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524" y="221996"/>
            <a:ext cx="65620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95" dirty="0"/>
              <a:t>Key</a:t>
            </a:r>
            <a:r>
              <a:rPr sz="2800" spc="-135" dirty="0"/>
              <a:t> </a:t>
            </a:r>
            <a:r>
              <a:rPr sz="2800" spc="-75" dirty="0"/>
              <a:t>Business,</a:t>
            </a:r>
            <a:r>
              <a:rPr sz="2800" spc="-114" dirty="0"/>
              <a:t> </a:t>
            </a:r>
            <a:r>
              <a:rPr sz="2800" spc="-65" dirty="0"/>
              <a:t>Financial</a:t>
            </a:r>
            <a:r>
              <a:rPr sz="2800" spc="-130" dirty="0"/>
              <a:t> </a:t>
            </a:r>
            <a:r>
              <a:rPr sz="2800" spc="-175" dirty="0"/>
              <a:t>&amp;</a:t>
            </a:r>
            <a:r>
              <a:rPr sz="2800" spc="-135" dirty="0"/>
              <a:t> </a:t>
            </a:r>
            <a:r>
              <a:rPr sz="2800" spc="-125" dirty="0"/>
              <a:t>Market</a:t>
            </a:r>
            <a:r>
              <a:rPr sz="2800" spc="-145" dirty="0"/>
              <a:t> </a:t>
            </a:r>
            <a:r>
              <a:rPr sz="2800" spc="-10" dirty="0"/>
              <a:t>Risks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387096" y="998219"/>
            <a:ext cx="292735" cy="323215"/>
          </a:xfrm>
          <a:custGeom>
            <a:avLst/>
            <a:gdLst/>
            <a:ahLst/>
            <a:cxnLst/>
            <a:rect l="l" t="t" r="r" b="b"/>
            <a:pathLst>
              <a:path w="292734" h="323215">
                <a:moveTo>
                  <a:pt x="292608" y="117094"/>
                </a:moveTo>
                <a:lnTo>
                  <a:pt x="283400" y="71539"/>
                </a:lnTo>
                <a:lnTo>
                  <a:pt x="258318" y="34315"/>
                </a:lnTo>
                <a:lnTo>
                  <a:pt x="221107" y="9207"/>
                </a:lnTo>
                <a:lnTo>
                  <a:pt x="175539" y="0"/>
                </a:lnTo>
                <a:lnTo>
                  <a:pt x="117068" y="0"/>
                </a:lnTo>
                <a:lnTo>
                  <a:pt x="71488" y="9207"/>
                </a:lnTo>
                <a:lnTo>
                  <a:pt x="34277" y="34315"/>
                </a:lnTo>
                <a:lnTo>
                  <a:pt x="9194" y="71539"/>
                </a:lnTo>
                <a:lnTo>
                  <a:pt x="0" y="117094"/>
                </a:lnTo>
                <a:lnTo>
                  <a:pt x="0" y="205994"/>
                </a:lnTo>
                <a:lnTo>
                  <a:pt x="9194" y="251561"/>
                </a:lnTo>
                <a:lnTo>
                  <a:pt x="34277" y="288785"/>
                </a:lnTo>
                <a:lnTo>
                  <a:pt x="48768" y="298564"/>
                </a:lnTo>
                <a:lnTo>
                  <a:pt x="48768" y="301752"/>
                </a:lnTo>
                <a:lnTo>
                  <a:pt x="53492" y="301752"/>
                </a:lnTo>
                <a:lnTo>
                  <a:pt x="71488" y="313893"/>
                </a:lnTo>
                <a:lnTo>
                  <a:pt x="117068" y="323088"/>
                </a:lnTo>
                <a:lnTo>
                  <a:pt x="175539" y="323088"/>
                </a:lnTo>
                <a:lnTo>
                  <a:pt x="221107" y="313893"/>
                </a:lnTo>
                <a:lnTo>
                  <a:pt x="239090" y="301752"/>
                </a:lnTo>
                <a:lnTo>
                  <a:pt x="243840" y="301752"/>
                </a:lnTo>
                <a:lnTo>
                  <a:pt x="243840" y="298564"/>
                </a:lnTo>
                <a:lnTo>
                  <a:pt x="258318" y="288785"/>
                </a:lnTo>
                <a:lnTo>
                  <a:pt x="283400" y="251561"/>
                </a:lnTo>
                <a:lnTo>
                  <a:pt x="292608" y="205994"/>
                </a:lnTo>
                <a:lnTo>
                  <a:pt x="292608" y="117094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0466" y="1014730"/>
            <a:ext cx="106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60" dirty="0">
                <a:solidFill>
                  <a:srgbClr val="E8F3E8"/>
                </a:solidFill>
                <a:latin typeface="Trebuchet MS"/>
                <a:cs typeface="Trebuchet MS"/>
              </a:rPr>
              <a:t>1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6841" y="840357"/>
            <a:ext cx="2224405" cy="347154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1270"/>
              </a:spcBef>
            </a:pPr>
            <a:r>
              <a:rPr sz="1700" b="1" spc="-75" dirty="0">
                <a:solidFill>
                  <a:srgbClr val="00492D"/>
                </a:solidFill>
                <a:latin typeface="Arial"/>
                <a:cs typeface="Arial"/>
              </a:rPr>
              <a:t>Business</a:t>
            </a:r>
            <a:r>
              <a:rPr sz="1700" b="1" spc="-4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700" b="1" spc="-20" dirty="0">
                <a:solidFill>
                  <a:srgbClr val="00492D"/>
                </a:solidFill>
                <a:latin typeface="Arial"/>
                <a:cs typeface="Arial"/>
              </a:rPr>
              <a:t>Risks</a:t>
            </a:r>
            <a:endParaRPr sz="1700">
              <a:latin typeface="Arial"/>
              <a:cs typeface="Arial"/>
            </a:endParaRPr>
          </a:p>
          <a:p>
            <a:pPr marL="12700" marR="5080" indent="112395">
              <a:lnSpc>
                <a:spcPct val="100000"/>
              </a:lnSpc>
              <a:spcBef>
                <a:spcPts val="969"/>
              </a:spcBef>
              <a:buSzPct val="92857"/>
              <a:buChar char="-"/>
              <a:tabLst>
                <a:tab pos="125095" algn="l"/>
              </a:tabLst>
            </a:pPr>
            <a:r>
              <a:rPr sz="1400" spc="10" dirty="0">
                <a:solidFill>
                  <a:srgbClr val="00492D"/>
                </a:solidFill>
                <a:latin typeface="Arial MT"/>
                <a:cs typeface="Arial MT"/>
              </a:rPr>
              <a:t>Artisan</a:t>
            </a:r>
            <a:r>
              <a:rPr sz="1400" spc="14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10" dirty="0">
                <a:solidFill>
                  <a:srgbClr val="00492D"/>
                </a:solidFill>
                <a:latin typeface="Arial MT"/>
                <a:cs typeface="Arial MT"/>
              </a:rPr>
              <a:t>reliability</a:t>
            </a:r>
            <a:r>
              <a:rPr sz="1400" spc="13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00492D"/>
                </a:solidFill>
                <a:latin typeface="Arial MT"/>
                <a:cs typeface="Arial MT"/>
              </a:rPr>
              <a:t>&amp;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product</a:t>
            </a:r>
            <a:r>
              <a:rPr sz="1400" spc="6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authenticity</a:t>
            </a:r>
            <a:r>
              <a:rPr sz="1400" spc="12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Times New Roman"/>
                <a:cs typeface="Times New Roman"/>
              </a:rPr>
              <a:t>→</a:t>
            </a:r>
            <a:r>
              <a:rPr sz="1400" spc="145" dirty="0">
                <a:solidFill>
                  <a:srgbClr val="00492D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00492D"/>
                </a:solidFill>
                <a:latin typeface="Arial MT"/>
                <a:cs typeface="Arial MT"/>
              </a:rPr>
              <a:t>Risk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of</a:t>
            </a:r>
            <a:r>
              <a:rPr sz="1400" spc="8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inconsistent</a:t>
            </a:r>
            <a:r>
              <a:rPr sz="1400" spc="15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quality</a:t>
            </a:r>
            <a:r>
              <a:rPr sz="1400" spc="6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00492D"/>
                </a:solidFill>
                <a:latin typeface="Arial MT"/>
                <a:cs typeface="Arial MT"/>
              </a:rPr>
              <a:t>and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counterfeit</a:t>
            </a:r>
            <a:r>
              <a:rPr sz="1400" spc="204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products.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Clr>
                <a:srgbClr val="00492D"/>
              </a:buClr>
              <a:buFont typeface="Arial MT"/>
              <a:buChar char="-"/>
            </a:pPr>
            <a:endParaRPr sz="1400">
              <a:latin typeface="Arial MT"/>
              <a:cs typeface="Arial MT"/>
            </a:endParaRPr>
          </a:p>
          <a:p>
            <a:pPr marL="12700" marR="192405" indent="112395">
              <a:lnSpc>
                <a:spcPct val="100000"/>
              </a:lnSpc>
              <a:buSzPct val="92857"/>
              <a:buChar char="-"/>
              <a:tabLst>
                <a:tab pos="125095" algn="l"/>
              </a:tabLst>
            </a:pP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Supply</a:t>
            </a:r>
            <a:r>
              <a:rPr sz="1400" spc="-1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chain</a:t>
            </a:r>
            <a:r>
              <a:rPr sz="1400" spc="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&amp;</a:t>
            </a:r>
            <a:r>
              <a:rPr sz="1400" spc="1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logistics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delays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Times New Roman"/>
                <a:cs typeface="Times New Roman"/>
              </a:rPr>
              <a:t>→</a:t>
            </a:r>
            <a:r>
              <a:rPr sz="1400" spc="30" dirty="0">
                <a:solidFill>
                  <a:srgbClr val="00492D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Late</a:t>
            </a:r>
            <a:r>
              <a:rPr sz="1400" spc="-2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deliveries can</a:t>
            </a:r>
            <a:r>
              <a:rPr sz="1400" spc="-2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lead</a:t>
            </a:r>
            <a:r>
              <a:rPr sz="1400" spc="-2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50" dirty="0">
                <a:solidFill>
                  <a:srgbClr val="00492D"/>
                </a:solidFill>
                <a:latin typeface="Arial MT"/>
                <a:cs typeface="Arial MT"/>
              </a:rPr>
              <a:t>to</a:t>
            </a:r>
            <a:r>
              <a:rPr sz="1400" spc="-3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customer dissatisfaction.</a:t>
            </a:r>
            <a:endParaRPr sz="1400">
              <a:latin typeface="Arial MT"/>
              <a:cs typeface="Arial MT"/>
            </a:endParaRPr>
          </a:p>
          <a:p>
            <a:pPr marL="12700" marR="289560" indent="112395">
              <a:lnSpc>
                <a:spcPct val="100000"/>
              </a:lnSpc>
              <a:spcBef>
                <a:spcPts val="1025"/>
              </a:spcBef>
              <a:buSzPct val="92857"/>
              <a:buChar char="-"/>
              <a:tabLst>
                <a:tab pos="125095" algn="l"/>
              </a:tabLst>
            </a:pP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Legal</a:t>
            </a:r>
            <a:r>
              <a:rPr sz="1400" spc="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&amp;</a:t>
            </a:r>
            <a:r>
              <a:rPr sz="1400" spc="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compliance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challenges</a:t>
            </a:r>
            <a:r>
              <a:rPr sz="1400" spc="2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Times New Roman"/>
                <a:cs typeface="Times New Roman"/>
              </a:rPr>
              <a:t>→</a:t>
            </a:r>
            <a:r>
              <a:rPr sz="1400" spc="55" dirty="0">
                <a:solidFill>
                  <a:srgbClr val="00492D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Changing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government</a:t>
            </a:r>
            <a:r>
              <a:rPr sz="1400" spc="18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regulations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may</a:t>
            </a:r>
            <a:r>
              <a:rPr sz="1400" spc="2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impact</a:t>
            </a:r>
            <a:r>
              <a:rPr sz="1400" spc="2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operations.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08376" y="998219"/>
            <a:ext cx="292735" cy="323215"/>
          </a:xfrm>
          <a:custGeom>
            <a:avLst/>
            <a:gdLst/>
            <a:ahLst/>
            <a:cxnLst/>
            <a:rect l="l" t="t" r="r" b="b"/>
            <a:pathLst>
              <a:path w="292735" h="323215">
                <a:moveTo>
                  <a:pt x="292608" y="117094"/>
                </a:moveTo>
                <a:lnTo>
                  <a:pt x="283400" y="71539"/>
                </a:lnTo>
                <a:lnTo>
                  <a:pt x="258292" y="34315"/>
                </a:lnTo>
                <a:lnTo>
                  <a:pt x="221068" y="9207"/>
                </a:lnTo>
                <a:lnTo>
                  <a:pt x="175514" y="0"/>
                </a:lnTo>
                <a:lnTo>
                  <a:pt x="117094" y="0"/>
                </a:lnTo>
                <a:lnTo>
                  <a:pt x="71526" y="9207"/>
                </a:lnTo>
                <a:lnTo>
                  <a:pt x="34302" y="34315"/>
                </a:lnTo>
                <a:lnTo>
                  <a:pt x="9194" y="71539"/>
                </a:lnTo>
                <a:lnTo>
                  <a:pt x="0" y="117094"/>
                </a:lnTo>
                <a:lnTo>
                  <a:pt x="0" y="205994"/>
                </a:lnTo>
                <a:lnTo>
                  <a:pt x="9194" y="251561"/>
                </a:lnTo>
                <a:lnTo>
                  <a:pt x="34302" y="288785"/>
                </a:lnTo>
                <a:lnTo>
                  <a:pt x="71526" y="313893"/>
                </a:lnTo>
                <a:lnTo>
                  <a:pt x="117094" y="323088"/>
                </a:lnTo>
                <a:lnTo>
                  <a:pt x="175514" y="323088"/>
                </a:lnTo>
                <a:lnTo>
                  <a:pt x="221068" y="313893"/>
                </a:lnTo>
                <a:lnTo>
                  <a:pt x="258292" y="288785"/>
                </a:lnTo>
                <a:lnTo>
                  <a:pt x="283400" y="251561"/>
                </a:lnTo>
                <a:lnTo>
                  <a:pt x="292608" y="205994"/>
                </a:lnTo>
                <a:lnTo>
                  <a:pt x="292608" y="117094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90164" y="1037082"/>
            <a:ext cx="12953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10" dirty="0">
                <a:solidFill>
                  <a:srgbClr val="E8F3E8"/>
                </a:solidFill>
                <a:latin typeface="Trebuchet MS"/>
                <a:cs typeface="Trebuchet MS"/>
              </a:rPr>
              <a:t>2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18713" y="921433"/>
            <a:ext cx="2442210" cy="3602354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700" b="1" spc="-40" dirty="0">
                <a:solidFill>
                  <a:srgbClr val="00492D"/>
                </a:solidFill>
                <a:latin typeface="Arial"/>
                <a:cs typeface="Arial"/>
              </a:rPr>
              <a:t>Financial </a:t>
            </a:r>
            <a:r>
              <a:rPr sz="1700" b="1" spc="-20" dirty="0">
                <a:solidFill>
                  <a:srgbClr val="00492D"/>
                </a:solidFill>
                <a:latin typeface="Arial"/>
                <a:cs typeface="Arial"/>
              </a:rPr>
              <a:t>Risks</a:t>
            </a:r>
            <a:endParaRPr sz="1700">
              <a:latin typeface="Arial"/>
              <a:cs typeface="Arial"/>
            </a:endParaRPr>
          </a:p>
          <a:p>
            <a:pPr marL="12700" marR="280670" indent="112395">
              <a:lnSpc>
                <a:spcPct val="100000"/>
              </a:lnSpc>
              <a:spcBef>
                <a:spcPts val="440"/>
              </a:spcBef>
              <a:buSzPct val="92857"/>
              <a:buChar char="-"/>
              <a:tabLst>
                <a:tab pos="125095" algn="l"/>
              </a:tabLst>
            </a:pP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High</a:t>
            </a:r>
            <a:r>
              <a:rPr sz="1400" spc="12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initial</a:t>
            </a:r>
            <a:r>
              <a:rPr sz="1400" spc="14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investment</a:t>
            </a:r>
            <a:r>
              <a:rPr sz="1400" spc="16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00492D"/>
                </a:solidFill>
                <a:latin typeface="Arial MT"/>
                <a:cs typeface="Arial MT"/>
              </a:rPr>
              <a:t>&amp; </a:t>
            </a:r>
            <a:r>
              <a:rPr sz="1400" spc="60" dirty="0">
                <a:solidFill>
                  <a:srgbClr val="00492D"/>
                </a:solidFill>
                <a:latin typeface="Arial MT"/>
                <a:cs typeface="Arial MT"/>
              </a:rPr>
              <a:t>slow</a:t>
            </a:r>
            <a:r>
              <a:rPr sz="1400" spc="-4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revenue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55" dirty="0">
                <a:solidFill>
                  <a:srgbClr val="00492D"/>
                </a:solidFill>
                <a:latin typeface="Arial MT"/>
                <a:cs typeface="Arial MT"/>
              </a:rPr>
              <a:t>growth</a:t>
            </a:r>
            <a:r>
              <a:rPr sz="1400" spc="-3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00492D"/>
                </a:solidFill>
                <a:latin typeface="Times New Roman"/>
                <a:cs typeface="Times New Roman"/>
              </a:rPr>
              <a:t>→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Requires</a:t>
            </a:r>
            <a:r>
              <a:rPr sz="1400" spc="4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significant</a:t>
            </a:r>
            <a:r>
              <a:rPr sz="1400" spc="3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capital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before</a:t>
            </a:r>
            <a:r>
              <a:rPr sz="1400" spc="5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profitability.</a:t>
            </a:r>
            <a:endParaRPr sz="1400">
              <a:latin typeface="Arial MT"/>
              <a:cs typeface="Arial MT"/>
            </a:endParaRPr>
          </a:p>
          <a:p>
            <a:pPr marL="12700" marR="198755" indent="112395">
              <a:lnSpc>
                <a:spcPct val="100000"/>
              </a:lnSpc>
              <a:spcBef>
                <a:spcPts val="950"/>
              </a:spcBef>
              <a:buSzPct val="92857"/>
              <a:buChar char="-"/>
              <a:tabLst>
                <a:tab pos="125095" algn="l"/>
              </a:tabLst>
            </a:pP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Unpredictable</a:t>
            </a:r>
            <a:r>
              <a:rPr sz="1400" spc="2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00492D"/>
                </a:solidFill>
                <a:latin typeface="Arial MT"/>
                <a:cs typeface="Arial MT"/>
              </a:rPr>
              <a:t>cash</a:t>
            </a:r>
            <a:r>
              <a:rPr sz="1400" spc="3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85" dirty="0">
                <a:solidFill>
                  <a:srgbClr val="00492D"/>
                </a:solidFill>
                <a:latin typeface="Arial MT"/>
                <a:cs typeface="Arial MT"/>
              </a:rPr>
              <a:t>flow</a:t>
            </a:r>
            <a:r>
              <a:rPr sz="1400" spc="-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00492D"/>
                </a:solidFill>
                <a:latin typeface="Arial MT"/>
                <a:cs typeface="Arial MT"/>
              </a:rPr>
              <a:t>&amp;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payment</a:t>
            </a:r>
            <a:r>
              <a:rPr sz="1400" spc="3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delays</a:t>
            </a:r>
            <a:r>
              <a:rPr sz="1400" spc="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Times New Roman"/>
                <a:cs typeface="Times New Roman"/>
              </a:rPr>
              <a:t>→</a:t>
            </a:r>
            <a:r>
              <a:rPr sz="1400" spc="70" dirty="0">
                <a:solidFill>
                  <a:srgbClr val="00492D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Artisans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may</a:t>
            </a:r>
            <a:r>
              <a:rPr sz="1400" spc="-1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expect</a:t>
            </a:r>
            <a:r>
              <a:rPr sz="1400" spc="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upfront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payments,</a:t>
            </a:r>
            <a:r>
              <a:rPr sz="1400" spc="1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while</a:t>
            </a:r>
            <a:r>
              <a:rPr sz="1400" spc="10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customers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prefer</a:t>
            </a:r>
            <a:r>
              <a:rPr sz="1400" spc="33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post-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delivery payments.</a:t>
            </a:r>
            <a:endParaRPr sz="1400">
              <a:latin typeface="Arial MT"/>
              <a:cs typeface="Arial MT"/>
            </a:endParaRPr>
          </a:p>
          <a:p>
            <a:pPr marL="12700" marR="5080" indent="112395">
              <a:lnSpc>
                <a:spcPct val="100000"/>
              </a:lnSpc>
              <a:spcBef>
                <a:spcPts val="670"/>
              </a:spcBef>
              <a:buSzPct val="92857"/>
              <a:buChar char="-"/>
              <a:tabLst>
                <a:tab pos="125095" algn="l"/>
              </a:tabLst>
            </a:pP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High</a:t>
            </a:r>
            <a:r>
              <a:rPr sz="1400" spc="6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customer</a:t>
            </a:r>
            <a:r>
              <a:rPr sz="1400" spc="6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acquisition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cost</a:t>
            </a:r>
            <a:r>
              <a:rPr sz="1400" spc="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vs.</a:t>
            </a:r>
            <a:r>
              <a:rPr sz="1400" spc="3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85" dirty="0">
                <a:solidFill>
                  <a:srgbClr val="00492D"/>
                </a:solidFill>
                <a:latin typeface="Arial MT"/>
                <a:cs typeface="Arial MT"/>
              </a:rPr>
              <a:t>low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retention</a:t>
            </a:r>
            <a:r>
              <a:rPr sz="1400" spc="2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00492D"/>
                </a:solidFill>
                <a:latin typeface="Times New Roman"/>
                <a:cs typeface="Times New Roman"/>
              </a:rPr>
              <a:t>→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Expensive</a:t>
            </a:r>
            <a:r>
              <a:rPr sz="1400" spc="3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marketing</a:t>
            </a:r>
            <a:r>
              <a:rPr sz="1400" spc="1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may</a:t>
            </a:r>
            <a:r>
              <a:rPr sz="1400" spc="1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00492D"/>
                </a:solidFill>
                <a:latin typeface="Arial MT"/>
                <a:cs typeface="Arial MT"/>
              </a:rPr>
              <a:t>not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convert</a:t>
            </a:r>
            <a:r>
              <a:rPr sz="1400" spc="7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into</a:t>
            </a:r>
            <a:r>
              <a:rPr sz="1400" spc="6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repeat</a:t>
            </a:r>
            <a:r>
              <a:rPr sz="1400" spc="5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customers.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69508" y="976883"/>
            <a:ext cx="292735" cy="323215"/>
          </a:xfrm>
          <a:custGeom>
            <a:avLst/>
            <a:gdLst/>
            <a:ahLst/>
            <a:cxnLst/>
            <a:rect l="l" t="t" r="r" b="b"/>
            <a:pathLst>
              <a:path w="292735" h="323215">
                <a:moveTo>
                  <a:pt x="292608" y="117094"/>
                </a:moveTo>
                <a:lnTo>
                  <a:pt x="283400" y="71539"/>
                </a:lnTo>
                <a:lnTo>
                  <a:pt x="258292" y="34315"/>
                </a:lnTo>
                <a:lnTo>
                  <a:pt x="221068" y="9207"/>
                </a:lnTo>
                <a:lnTo>
                  <a:pt x="175514" y="0"/>
                </a:lnTo>
                <a:lnTo>
                  <a:pt x="117094" y="0"/>
                </a:lnTo>
                <a:lnTo>
                  <a:pt x="71526" y="9207"/>
                </a:lnTo>
                <a:lnTo>
                  <a:pt x="34302" y="34315"/>
                </a:lnTo>
                <a:lnTo>
                  <a:pt x="9194" y="71539"/>
                </a:lnTo>
                <a:lnTo>
                  <a:pt x="0" y="117094"/>
                </a:lnTo>
                <a:lnTo>
                  <a:pt x="0" y="205994"/>
                </a:lnTo>
                <a:lnTo>
                  <a:pt x="9194" y="251561"/>
                </a:lnTo>
                <a:lnTo>
                  <a:pt x="34302" y="288785"/>
                </a:lnTo>
                <a:lnTo>
                  <a:pt x="71526" y="313893"/>
                </a:lnTo>
                <a:lnTo>
                  <a:pt x="117094" y="323088"/>
                </a:lnTo>
                <a:lnTo>
                  <a:pt x="175514" y="323088"/>
                </a:lnTo>
                <a:lnTo>
                  <a:pt x="221068" y="313893"/>
                </a:lnTo>
                <a:lnTo>
                  <a:pt x="258292" y="288785"/>
                </a:lnTo>
                <a:lnTo>
                  <a:pt x="283400" y="251561"/>
                </a:lnTo>
                <a:lnTo>
                  <a:pt x="292608" y="205994"/>
                </a:lnTo>
                <a:lnTo>
                  <a:pt x="292608" y="117094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051930" y="1010157"/>
            <a:ext cx="12953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10" dirty="0">
                <a:solidFill>
                  <a:srgbClr val="E8F3E8"/>
                </a:solidFill>
                <a:latin typeface="Trebuchet MS"/>
                <a:cs typeface="Trebuchet MS"/>
              </a:rPr>
              <a:t>3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80479" y="921433"/>
            <a:ext cx="2481580" cy="251968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700" b="1" dirty="0">
                <a:solidFill>
                  <a:srgbClr val="00492D"/>
                </a:solidFill>
                <a:latin typeface="Arial"/>
                <a:cs typeface="Arial"/>
              </a:rPr>
              <a:t>Market</a:t>
            </a:r>
            <a:r>
              <a:rPr sz="1700" b="1" spc="1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700" b="1" spc="-20" dirty="0">
                <a:solidFill>
                  <a:srgbClr val="00492D"/>
                </a:solidFill>
                <a:latin typeface="Arial"/>
                <a:cs typeface="Arial"/>
              </a:rPr>
              <a:t>Risks</a:t>
            </a:r>
            <a:endParaRPr sz="1700">
              <a:latin typeface="Arial"/>
              <a:cs typeface="Arial"/>
            </a:endParaRPr>
          </a:p>
          <a:p>
            <a:pPr marL="12700" marR="5080" indent="112395">
              <a:lnSpc>
                <a:spcPct val="100000"/>
              </a:lnSpc>
              <a:spcBef>
                <a:spcPts val="440"/>
              </a:spcBef>
              <a:buSzPct val="92857"/>
              <a:buChar char="-"/>
              <a:tabLst>
                <a:tab pos="125095" algn="l"/>
              </a:tabLst>
            </a:pP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Competition</a:t>
            </a:r>
            <a:r>
              <a:rPr sz="1400" spc="1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from</a:t>
            </a:r>
            <a:r>
              <a:rPr sz="1400" spc="12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00492D"/>
                </a:solidFill>
                <a:latin typeface="Arial MT"/>
                <a:cs typeface="Arial MT"/>
              </a:rPr>
              <a:t>e-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commerce</a:t>
            </a:r>
            <a:r>
              <a:rPr sz="1400" spc="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giants</a:t>
            </a:r>
            <a:r>
              <a:rPr sz="1400" spc="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Times New Roman"/>
                <a:cs typeface="Times New Roman"/>
              </a:rPr>
              <a:t>→</a:t>
            </a:r>
            <a:r>
              <a:rPr sz="1400" spc="50" dirty="0">
                <a:solidFill>
                  <a:srgbClr val="00492D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Amazon</a:t>
            </a:r>
            <a:r>
              <a:rPr sz="1400" spc="-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00492D"/>
                </a:solidFill>
                <a:latin typeface="Arial MT"/>
                <a:cs typeface="Arial MT"/>
              </a:rPr>
              <a:t>&amp;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Flipkart</a:t>
            </a:r>
            <a:r>
              <a:rPr sz="1400" spc="2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may</a:t>
            </a:r>
            <a:r>
              <a:rPr sz="1400" spc="7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introduce</a:t>
            </a:r>
            <a:r>
              <a:rPr sz="1400" spc="7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similar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handcrafted</a:t>
            </a:r>
            <a:r>
              <a:rPr sz="1400" spc="9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product</a:t>
            </a:r>
            <a:r>
              <a:rPr sz="1400" spc="50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categories.</a:t>
            </a:r>
            <a:endParaRPr sz="1400">
              <a:latin typeface="Arial MT"/>
              <a:cs typeface="Arial MT"/>
            </a:endParaRPr>
          </a:p>
          <a:p>
            <a:pPr marL="12700" marR="5080" indent="112395">
              <a:lnSpc>
                <a:spcPct val="100000"/>
              </a:lnSpc>
              <a:spcBef>
                <a:spcPts val="1500"/>
              </a:spcBef>
              <a:buSzPct val="92857"/>
              <a:buChar char="-"/>
              <a:tabLst>
                <a:tab pos="125095" algn="l"/>
              </a:tabLst>
            </a:pP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Shifting</a:t>
            </a:r>
            <a:r>
              <a:rPr sz="1400" spc="15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consumer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preferences </a:t>
            </a:r>
            <a:r>
              <a:rPr sz="1400" dirty="0">
                <a:solidFill>
                  <a:srgbClr val="00492D"/>
                </a:solidFill>
                <a:latin typeface="Times New Roman"/>
                <a:cs typeface="Times New Roman"/>
              </a:rPr>
              <a:t>→</a:t>
            </a:r>
            <a:r>
              <a:rPr sz="1400" spc="20" dirty="0">
                <a:solidFill>
                  <a:srgbClr val="00492D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Mass-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produced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alternatives</a:t>
            </a:r>
            <a:r>
              <a:rPr sz="1400" spc="6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may</a:t>
            </a:r>
            <a:r>
              <a:rPr sz="1400" spc="6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appeal</a:t>
            </a:r>
            <a:r>
              <a:rPr sz="1400" spc="4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25" dirty="0">
                <a:solidFill>
                  <a:srgbClr val="00492D"/>
                </a:solidFill>
                <a:latin typeface="Arial MT"/>
                <a:cs typeface="Arial MT"/>
              </a:rPr>
              <a:t>to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price-sensitive</a:t>
            </a:r>
            <a:r>
              <a:rPr sz="1400" spc="12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buyers.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80479" y="3754018"/>
            <a:ext cx="2183765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spc="105" dirty="0">
                <a:solidFill>
                  <a:srgbClr val="00492D"/>
                </a:solidFill>
                <a:latin typeface="Arial MT"/>
                <a:cs typeface="Arial MT"/>
              </a:rPr>
              <a:t>-</a:t>
            </a:r>
            <a:r>
              <a:rPr sz="1300" spc="-3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Seasonal</a:t>
            </a:r>
            <a:r>
              <a:rPr sz="1400" spc="-4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demand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fluctuations</a:t>
            </a:r>
            <a:r>
              <a:rPr sz="1400" spc="3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Times New Roman"/>
                <a:cs typeface="Times New Roman"/>
              </a:rPr>
              <a:t>→</a:t>
            </a:r>
            <a:r>
              <a:rPr sz="1400" spc="105" dirty="0">
                <a:solidFill>
                  <a:srgbClr val="00492D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Sales</a:t>
            </a:r>
            <a:r>
              <a:rPr sz="1400" spc="4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00492D"/>
                </a:solidFill>
                <a:latin typeface="Arial MT"/>
                <a:cs typeface="Arial MT"/>
              </a:rPr>
              <a:t>may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decline</a:t>
            </a:r>
            <a:r>
              <a:rPr sz="1400" spc="7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during</a:t>
            </a:r>
            <a:r>
              <a:rPr sz="1400" spc="70" dirty="0">
                <a:solidFill>
                  <a:srgbClr val="00492D"/>
                </a:solidFill>
                <a:latin typeface="Arial MT"/>
                <a:cs typeface="Arial MT"/>
              </a:rPr>
              <a:t> off-</a:t>
            </a:r>
            <a:r>
              <a:rPr sz="1400" spc="-25" dirty="0">
                <a:solidFill>
                  <a:srgbClr val="00492D"/>
                </a:solidFill>
                <a:latin typeface="Arial MT"/>
                <a:cs typeface="Arial MT"/>
              </a:rPr>
              <a:t>seasons,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impacting</a:t>
            </a:r>
            <a:r>
              <a:rPr sz="1400" spc="12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revenue.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433816" y="102107"/>
            <a:ext cx="506095" cy="508000"/>
          </a:xfrm>
          <a:custGeom>
            <a:avLst/>
            <a:gdLst/>
            <a:ahLst/>
            <a:cxnLst/>
            <a:rect l="l" t="t" r="r" b="b"/>
            <a:pathLst>
              <a:path w="506095" h="508000">
                <a:moveTo>
                  <a:pt x="505968" y="0"/>
                </a:moveTo>
                <a:lnTo>
                  <a:pt x="0" y="0"/>
                </a:lnTo>
                <a:lnTo>
                  <a:pt x="0" y="507491"/>
                </a:lnTo>
                <a:lnTo>
                  <a:pt x="505968" y="507491"/>
                </a:lnTo>
                <a:lnTo>
                  <a:pt x="505968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16408" y="763523"/>
            <a:ext cx="8471535" cy="0"/>
          </a:xfrm>
          <a:custGeom>
            <a:avLst/>
            <a:gdLst/>
            <a:ahLst/>
            <a:cxnLst/>
            <a:rect l="l" t="t" r="r" b="b"/>
            <a:pathLst>
              <a:path w="8471535">
                <a:moveTo>
                  <a:pt x="0" y="0"/>
                </a:moveTo>
                <a:lnTo>
                  <a:pt x="8471154" y="0"/>
                </a:lnTo>
              </a:path>
            </a:pathLst>
          </a:custGeom>
          <a:ln w="9144">
            <a:solidFill>
              <a:srgbClr val="00492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686800" y="4858511"/>
            <a:ext cx="116205" cy="116205"/>
          </a:xfrm>
          <a:custGeom>
            <a:avLst/>
            <a:gdLst/>
            <a:ahLst/>
            <a:cxnLst/>
            <a:rect l="l" t="t" r="r" b="b"/>
            <a:pathLst>
              <a:path w="116204" h="116204">
                <a:moveTo>
                  <a:pt x="115824" y="0"/>
                </a:moveTo>
                <a:lnTo>
                  <a:pt x="0" y="0"/>
                </a:lnTo>
                <a:lnTo>
                  <a:pt x="0" y="115823"/>
                </a:lnTo>
                <a:lnTo>
                  <a:pt x="115824" y="115823"/>
                </a:lnTo>
                <a:lnTo>
                  <a:pt x="115824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847" y="260731"/>
            <a:ext cx="2487295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dirty="0">
                <a:latin typeface="Trebuchet MS"/>
                <a:cs typeface="Trebuchet MS"/>
              </a:rPr>
              <a:t>Financial</a:t>
            </a:r>
            <a:r>
              <a:rPr sz="2900" spc="-30" dirty="0">
                <a:latin typeface="Trebuchet MS"/>
                <a:cs typeface="Trebuchet MS"/>
              </a:rPr>
              <a:t> </a:t>
            </a:r>
            <a:r>
              <a:rPr sz="2900" spc="65" dirty="0">
                <a:latin typeface="Trebuchet MS"/>
                <a:cs typeface="Trebuchet MS"/>
              </a:rPr>
              <a:t>Plan</a:t>
            </a:r>
            <a:endParaRPr sz="2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33816" y="102107"/>
            <a:ext cx="506095" cy="508000"/>
          </a:xfrm>
          <a:custGeom>
            <a:avLst/>
            <a:gdLst/>
            <a:ahLst/>
            <a:cxnLst/>
            <a:rect l="l" t="t" r="r" b="b"/>
            <a:pathLst>
              <a:path w="506095" h="508000">
                <a:moveTo>
                  <a:pt x="505968" y="0"/>
                </a:moveTo>
                <a:lnTo>
                  <a:pt x="0" y="0"/>
                </a:lnTo>
                <a:lnTo>
                  <a:pt x="0" y="507491"/>
                </a:lnTo>
                <a:lnTo>
                  <a:pt x="505968" y="507491"/>
                </a:lnTo>
                <a:lnTo>
                  <a:pt x="505968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6408" y="763523"/>
            <a:ext cx="8471535" cy="0"/>
          </a:xfrm>
          <a:custGeom>
            <a:avLst/>
            <a:gdLst/>
            <a:ahLst/>
            <a:cxnLst/>
            <a:rect l="l" t="t" r="r" b="b"/>
            <a:pathLst>
              <a:path w="8471535">
                <a:moveTo>
                  <a:pt x="0" y="0"/>
                </a:moveTo>
                <a:lnTo>
                  <a:pt x="8471154" y="0"/>
                </a:lnTo>
              </a:path>
            </a:pathLst>
          </a:custGeom>
          <a:ln w="9144">
            <a:solidFill>
              <a:srgbClr val="00492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86800" y="4858511"/>
            <a:ext cx="116205" cy="116205"/>
          </a:xfrm>
          <a:custGeom>
            <a:avLst/>
            <a:gdLst/>
            <a:ahLst/>
            <a:cxnLst/>
            <a:rect l="l" t="t" r="r" b="b"/>
            <a:pathLst>
              <a:path w="116204" h="116204">
                <a:moveTo>
                  <a:pt x="115824" y="0"/>
                </a:moveTo>
                <a:lnTo>
                  <a:pt x="0" y="0"/>
                </a:lnTo>
                <a:lnTo>
                  <a:pt x="0" y="115823"/>
                </a:lnTo>
                <a:lnTo>
                  <a:pt x="115824" y="115823"/>
                </a:lnTo>
                <a:lnTo>
                  <a:pt x="115824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011173"/>
              </p:ext>
            </p:extLst>
          </p:nvPr>
        </p:nvGraphicFramePr>
        <p:xfrm>
          <a:off x="1954625" y="1123950"/>
          <a:ext cx="5234750" cy="3427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03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1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0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Component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Amount</a:t>
                      </a:r>
                      <a:r>
                        <a:rPr sz="14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(INR)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0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Startup</a:t>
                      </a:r>
                      <a:r>
                        <a:rPr sz="14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Costs</a:t>
                      </a:r>
                      <a:r>
                        <a:rPr sz="14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(Total)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41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₹100,000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41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849">
                <a:tc>
                  <a:txBody>
                    <a:bodyPr/>
                    <a:lstStyle/>
                    <a:p>
                      <a:pPr marL="470534" indent="-110489">
                        <a:lnSpc>
                          <a:spcPct val="100000"/>
                        </a:lnSpc>
                        <a:spcBef>
                          <a:spcPts val="819"/>
                        </a:spcBef>
                        <a:buChar char="•"/>
                        <a:tabLst>
                          <a:tab pos="470534" algn="l"/>
                        </a:tabLst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Platform</a:t>
                      </a:r>
                      <a:r>
                        <a:rPr sz="1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Development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4139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₹40,000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4139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008">
                <a:tc>
                  <a:txBody>
                    <a:bodyPr/>
                    <a:lstStyle/>
                    <a:p>
                      <a:pPr marL="494665" indent="-110489">
                        <a:lnSpc>
                          <a:spcPct val="100000"/>
                        </a:lnSpc>
                        <a:spcBef>
                          <a:spcPts val="819"/>
                        </a:spcBef>
                        <a:buChar char="•"/>
                        <a:tabLst>
                          <a:tab pos="494665" algn="l"/>
                        </a:tabLst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Marketing</a:t>
                      </a:r>
                      <a:r>
                        <a:rPr sz="1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&amp;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Branding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4139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₹25,000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4139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849">
                <a:tc>
                  <a:txBody>
                    <a:bodyPr/>
                    <a:lstStyle/>
                    <a:p>
                      <a:pPr marL="346710" indent="-110489">
                        <a:lnSpc>
                          <a:spcPct val="100000"/>
                        </a:lnSpc>
                        <a:spcBef>
                          <a:spcPts val="819"/>
                        </a:spcBef>
                        <a:buChar char="•"/>
                        <a:tabLst>
                          <a:tab pos="346710" algn="l"/>
                        </a:tabLst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Legal,</a:t>
                      </a:r>
                      <a:r>
                        <a:rPr sz="1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Licensing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&amp;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Admin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4139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₹15,000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4139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008">
                <a:tc>
                  <a:txBody>
                    <a:bodyPr/>
                    <a:lstStyle/>
                    <a:p>
                      <a:pPr marL="311785" indent="-110489">
                        <a:lnSpc>
                          <a:spcPct val="100000"/>
                        </a:lnSpc>
                        <a:spcBef>
                          <a:spcPts val="819"/>
                        </a:spcBef>
                        <a:buChar char="•"/>
                        <a:tabLst>
                          <a:tab pos="311785" algn="l"/>
                        </a:tabLst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Operations</a:t>
                      </a:r>
                      <a:r>
                        <a:rPr sz="14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&amp;</a:t>
                      </a:r>
                      <a:r>
                        <a:rPr sz="1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Contingency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104139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₹20,000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104139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6F19A-F1F8-3CB4-7291-2403400E2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4B7C27F-9B5E-E5C7-C654-226494BF144A}"/>
              </a:ext>
            </a:extLst>
          </p:cNvPr>
          <p:cNvSpPr/>
          <p:nvPr/>
        </p:nvSpPr>
        <p:spPr>
          <a:xfrm>
            <a:off x="8686800" y="4860035"/>
            <a:ext cx="119380" cy="119380"/>
          </a:xfrm>
          <a:custGeom>
            <a:avLst/>
            <a:gdLst/>
            <a:ahLst/>
            <a:cxnLst/>
            <a:rect l="l" t="t" r="r" b="b"/>
            <a:pathLst>
              <a:path w="119379" h="119379">
                <a:moveTo>
                  <a:pt x="118872" y="0"/>
                </a:moveTo>
                <a:lnTo>
                  <a:pt x="0" y="0"/>
                </a:lnTo>
                <a:lnTo>
                  <a:pt x="0" y="118871"/>
                </a:lnTo>
                <a:lnTo>
                  <a:pt x="118872" y="118871"/>
                </a:lnTo>
                <a:lnTo>
                  <a:pt x="118872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B3045F2-2308-6EA4-D655-28783F470F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640" y="196341"/>
            <a:ext cx="689356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S</a:t>
            </a:r>
            <a:r>
              <a:rPr lang="en-US" b="1" dirty="0"/>
              <a:t>urvey</a:t>
            </a:r>
            <a:r>
              <a:rPr lang="en-US" dirty="0"/>
              <a:t> tailored to gather insights</a:t>
            </a:r>
            <a:endParaRPr spc="-1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A2633FA-B336-1A21-9386-E69E76A62391}"/>
              </a:ext>
            </a:extLst>
          </p:cNvPr>
          <p:cNvSpPr/>
          <p:nvPr/>
        </p:nvSpPr>
        <p:spPr>
          <a:xfrm>
            <a:off x="216408" y="763523"/>
            <a:ext cx="8471535" cy="0"/>
          </a:xfrm>
          <a:custGeom>
            <a:avLst/>
            <a:gdLst/>
            <a:ahLst/>
            <a:cxnLst/>
            <a:rect l="l" t="t" r="r" b="b"/>
            <a:pathLst>
              <a:path w="8471535">
                <a:moveTo>
                  <a:pt x="0" y="0"/>
                </a:moveTo>
                <a:lnTo>
                  <a:pt x="8471154" y="0"/>
                </a:lnTo>
              </a:path>
            </a:pathLst>
          </a:custGeom>
          <a:ln w="9144">
            <a:solidFill>
              <a:srgbClr val="00492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A3C7888-32F0-C19C-9B52-557526301F19}"/>
              </a:ext>
            </a:extLst>
          </p:cNvPr>
          <p:cNvSpPr/>
          <p:nvPr/>
        </p:nvSpPr>
        <p:spPr>
          <a:xfrm>
            <a:off x="8433816" y="102107"/>
            <a:ext cx="506095" cy="508000"/>
          </a:xfrm>
          <a:custGeom>
            <a:avLst/>
            <a:gdLst/>
            <a:ahLst/>
            <a:cxnLst/>
            <a:rect l="l" t="t" r="r" b="b"/>
            <a:pathLst>
              <a:path w="506095" h="508000">
                <a:moveTo>
                  <a:pt x="505968" y="0"/>
                </a:moveTo>
                <a:lnTo>
                  <a:pt x="0" y="0"/>
                </a:lnTo>
                <a:lnTo>
                  <a:pt x="0" y="507491"/>
                </a:lnTo>
                <a:lnTo>
                  <a:pt x="505968" y="507491"/>
                </a:lnTo>
                <a:lnTo>
                  <a:pt x="505968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CBB0AA8E-9596-ADED-119E-52CCC4054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251144"/>
              </p:ext>
            </p:extLst>
          </p:nvPr>
        </p:nvGraphicFramePr>
        <p:xfrm>
          <a:off x="228600" y="824246"/>
          <a:ext cx="8640096" cy="39716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8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2304">
                <a:tc>
                  <a:txBody>
                    <a:bodyPr/>
                    <a:lstStyle/>
                    <a:p>
                      <a:pPr marL="548640" indent="-317500">
                        <a:lnSpc>
                          <a:spcPct val="100000"/>
                        </a:lnSpc>
                        <a:spcBef>
                          <a:spcPts val="765"/>
                        </a:spcBef>
                        <a:buFont typeface="Times New Roman"/>
                        <a:buChar char="●"/>
                        <a:tabLst>
                          <a:tab pos="548640" algn="l"/>
                        </a:tabLst>
                      </a:pPr>
                      <a:endParaRPr lang="en-US" sz="1400" dirty="0">
                        <a:latin typeface="Arial MT"/>
                        <a:cs typeface="Arial MT"/>
                      </a:endParaRPr>
                    </a:p>
                  </a:txBody>
                  <a:tcPr marL="0" marR="0" marT="9715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9275" indent="-316865">
                        <a:lnSpc>
                          <a:spcPct val="100000"/>
                        </a:lnSpc>
                        <a:spcBef>
                          <a:spcPts val="765"/>
                        </a:spcBef>
                        <a:buFont typeface="Times New Roman"/>
                        <a:buChar char="●"/>
                        <a:tabLst>
                          <a:tab pos="549275" algn="l"/>
                        </a:tabLst>
                      </a:pPr>
                      <a:endParaRPr lang="en-US" sz="1400">
                        <a:latin typeface="Arial MT"/>
                        <a:cs typeface="Arial MT"/>
                      </a:endParaRPr>
                    </a:p>
                  </a:txBody>
                  <a:tcPr marL="0" marR="0" marT="9715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9364">
                <a:tc>
                  <a:txBody>
                    <a:bodyPr/>
                    <a:lstStyle/>
                    <a:p>
                      <a:pPr marL="548640" indent="-317500">
                        <a:lnSpc>
                          <a:spcPct val="100000"/>
                        </a:lnSpc>
                        <a:spcBef>
                          <a:spcPts val="765"/>
                        </a:spcBef>
                        <a:buFont typeface="Times New Roman"/>
                        <a:buChar char="●"/>
                        <a:tabLst>
                          <a:tab pos="548640" algn="l"/>
                        </a:tabLst>
                      </a:pPr>
                      <a:endParaRPr lang="en-US" sz="1400" dirty="0">
                        <a:latin typeface="Arial MT"/>
                        <a:cs typeface="Arial MT"/>
                      </a:endParaRPr>
                    </a:p>
                  </a:txBody>
                  <a:tcPr marL="0" marR="0" marT="9715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2410" indent="0">
                        <a:lnSpc>
                          <a:spcPct val="100000"/>
                        </a:lnSpc>
                        <a:spcBef>
                          <a:spcPts val="765"/>
                        </a:spcBef>
                        <a:buFont typeface="Times New Roman"/>
                        <a:buNone/>
                        <a:tabLst>
                          <a:tab pos="549275" algn="l"/>
                        </a:tabLst>
                      </a:pPr>
                      <a:endParaRPr lang="en-US" sz="1400" dirty="0">
                        <a:latin typeface="Arial MT"/>
                        <a:cs typeface="Arial MT"/>
                      </a:endParaRPr>
                    </a:p>
                  </a:txBody>
                  <a:tcPr marL="0" marR="0" marT="9715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50" name="Picture 2" descr="Forms response chart. Question title:   1.  Which platform do you currently use to sell or showcase your art?. Number of responses: 8 responses.">
            <a:extLst>
              <a:ext uri="{FF2B5EF4-FFF2-40B4-BE49-F238E27FC236}">
                <a16:creationId xmlns:a16="http://schemas.microsoft.com/office/drawing/2014/main" id="{E174390D-16BB-148A-F717-79214E233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879646"/>
            <a:ext cx="4343399" cy="19207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D94FEE7-A605-B61D-8BEB-E76C5DD8E9BD}"/>
              </a:ext>
            </a:extLst>
          </p:cNvPr>
          <p:cNvSpPr/>
          <p:nvPr/>
        </p:nvSpPr>
        <p:spPr>
          <a:xfrm>
            <a:off x="304801" y="1200150"/>
            <a:ext cx="568960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2" name="Picture 4" descr="Forms response chart. Question title: 2.  What is your biggest challenge as an artist selling online?  . Number of responses: 8 responses.">
            <a:extLst>
              <a:ext uri="{FF2B5EF4-FFF2-40B4-BE49-F238E27FC236}">
                <a16:creationId xmlns:a16="http://schemas.microsoft.com/office/drawing/2014/main" id="{4D635003-4B10-B36E-0CA7-E8FCCADBF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999" y="879647"/>
            <a:ext cx="3853181" cy="192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184174F-5864-C930-46AE-4AF7B6B26633}"/>
              </a:ext>
            </a:extLst>
          </p:cNvPr>
          <p:cNvSpPr/>
          <p:nvPr/>
        </p:nvSpPr>
        <p:spPr>
          <a:xfrm>
            <a:off x="5029200" y="1200150"/>
            <a:ext cx="457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4" name="Picture 6" descr="Forms response chart. Question title: 3.  How do you currently receive commissions or custom orders?. Number of responses: 8 responses.">
            <a:extLst>
              <a:ext uri="{FF2B5EF4-FFF2-40B4-BE49-F238E27FC236}">
                <a16:creationId xmlns:a16="http://schemas.microsoft.com/office/drawing/2014/main" id="{AB01AA8C-C51F-38D7-55D2-AC2D3286A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2893235"/>
            <a:ext cx="4390930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8EEEFE8-161D-1058-8AAC-E72FF8352692}"/>
              </a:ext>
            </a:extLst>
          </p:cNvPr>
          <p:cNvSpPr/>
          <p:nvPr/>
        </p:nvSpPr>
        <p:spPr>
          <a:xfrm>
            <a:off x="421640" y="3181350"/>
            <a:ext cx="452121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6" name="Picture 8" descr="Forms response chart. Question title: 4.  What kind of support would you find most helpful?. Number of responses: 8 responses.">
            <a:extLst>
              <a:ext uri="{FF2B5EF4-FFF2-40B4-BE49-F238E27FC236}">
                <a16:creationId xmlns:a16="http://schemas.microsoft.com/office/drawing/2014/main" id="{D9AFC446-177F-B3F5-D01F-F6274F468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999" y="2898767"/>
            <a:ext cx="3853181" cy="1842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CB24E38-9751-CF83-C7EB-CFBB5D3B2097}"/>
              </a:ext>
            </a:extLst>
          </p:cNvPr>
          <p:cNvSpPr/>
          <p:nvPr/>
        </p:nvSpPr>
        <p:spPr>
          <a:xfrm>
            <a:off x="5029200" y="3181350"/>
            <a:ext cx="4572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953474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1047F-AA72-57DA-25E3-2B3207836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A383103-69E6-35D9-9A39-6DD76BAAFB85}"/>
              </a:ext>
            </a:extLst>
          </p:cNvPr>
          <p:cNvSpPr/>
          <p:nvPr/>
        </p:nvSpPr>
        <p:spPr>
          <a:xfrm>
            <a:off x="8686800" y="4860035"/>
            <a:ext cx="119380" cy="119380"/>
          </a:xfrm>
          <a:custGeom>
            <a:avLst/>
            <a:gdLst/>
            <a:ahLst/>
            <a:cxnLst/>
            <a:rect l="l" t="t" r="r" b="b"/>
            <a:pathLst>
              <a:path w="119379" h="119379">
                <a:moveTo>
                  <a:pt x="118872" y="0"/>
                </a:moveTo>
                <a:lnTo>
                  <a:pt x="0" y="0"/>
                </a:lnTo>
                <a:lnTo>
                  <a:pt x="0" y="118871"/>
                </a:lnTo>
                <a:lnTo>
                  <a:pt x="118872" y="118871"/>
                </a:lnTo>
                <a:lnTo>
                  <a:pt x="118872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0F3AD74-9D63-D33E-40AF-C1BEC3728C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640" y="196341"/>
            <a:ext cx="689356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S</a:t>
            </a:r>
            <a:r>
              <a:rPr lang="en-US" b="1" dirty="0"/>
              <a:t>urvey</a:t>
            </a:r>
            <a:r>
              <a:rPr lang="en-US" dirty="0"/>
              <a:t> tailored to gather insights</a:t>
            </a:r>
            <a:endParaRPr spc="-1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987EE94-59E1-A179-5E4A-C510895B7AEB}"/>
              </a:ext>
            </a:extLst>
          </p:cNvPr>
          <p:cNvSpPr/>
          <p:nvPr/>
        </p:nvSpPr>
        <p:spPr>
          <a:xfrm>
            <a:off x="216408" y="763523"/>
            <a:ext cx="8471535" cy="0"/>
          </a:xfrm>
          <a:custGeom>
            <a:avLst/>
            <a:gdLst/>
            <a:ahLst/>
            <a:cxnLst/>
            <a:rect l="l" t="t" r="r" b="b"/>
            <a:pathLst>
              <a:path w="8471535">
                <a:moveTo>
                  <a:pt x="0" y="0"/>
                </a:moveTo>
                <a:lnTo>
                  <a:pt x="8471154" y="0"/>
                </a:lnTo>
              </a:path>
            </a:pathLst>
          </a:custGeom>
          <a:ln w="9144">
            <a:solidFill>
              <a:srgbClr val="00492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F186012-6DA3-7D04-AC64-CCA8FE2FB704}"/>
              </a:ext>
            </a:extLst>
          </p:cNvPr>
          <p:cNvSpPr/>
          <p:nvPr/>
        </p:nvSpPr>
        <p:spPr>
          <a:xfrm>
            <a:off x="8433816" y="102107"/>
            <a:ext cx="506095" cy="508000"/>
          </a:xfrm>
          <a:custGeom>
            <a:avLst/>
            <a:gdLst/>
            <a:ahLst/>
            <a:cxnLst/>
            <a:rect l="l" t="t" r="r" b="b"/>
            <a:pathLst>
              <a:path w="506095" h="508000">
                <a:moveTo>
                  <a:pt x="505968" y="0"/>
                </a:moveTo>
                <a:lnTo>
                  <a:pt x="0" y="0"/>
                </a:lnTo>
                <a:lnTo>
                  <a:pt x="0" y="507491"/>
                </a:lnTo>
                <a:lnTo>
                  <a:pt x="505968" y="507491"/>
                </a:lnTo>
                <a:lnTo>
                  <a:pt x="505968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9D3AB0EA-885F-1E2B-CBA1-0DE3FB70611B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824246"/>
          <a:ext cx="8640096" cy="39716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8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2304">
                <a:tc>
                  <a:txBody>
                    <a:bodyPr/>
                    <a:lstStyle/>
                    <a:p>
                      <a:pPr marL="548640" indent="-317500">
                        <a:lnSpc>
                          <a:spcPct val="100000"/>
                        </a:lnSpc>
                        <a:spcBef>
                          <a:spcPts val="765"/>
                        </a:spcBef>
                        <a:buFont typeface="Times New Roman"/>
                        <a:buChar char="●"/>
                        <a:tabLst>
                          <a:tab pos="548640" algn="l"/>
                        </a:tabLst>
                      </a:pPr>
                      <a:endParaRPr lang="en-US" sz="1400" dirty="0">
                        <a:latin typeface="Arial MT"/>
                        <a:cs typeface="Arial MT"/>
                      </a:endParaRPr>
                    </a:p>
                  </a:txBody>
                  <a:tcPr marL="0" marR="0" marT="9715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9275" indent="-316865">
                        <a:lnSpc>
                          <a:spcPct val="100000"/>
                        </a:lnSpc>
                        <a:spcBef>
                          <a:spcPts val="765"/>
                        </a:spcBef>
                        <a:buFont typeface="Times New Roman"/>
                        <a:buChar char="●"/>
                        <a:tabLst>
                          <a:tab pos="549275" algn="l"/>
                        </a:tabLst>
                      </a:pPr>
                      <a:endParaRPr lang="en-US" sz="1400" dirty="0">
                        <a:latin typeface="Arial MT"/>
                        <a:cs typeface="Arial MT"/>
                      </a:endParaRPr>
                    </a:p>
                  </a:txBody>
                  <a:tcPr marL="0" marR="0" marT="9715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9364">
                <a:tc>
                  <a:txBody>
                    <a:bodyPr/>
                    <a:lstStyle/>
                    <a:p>
                      <a:pPr marL="548640" indent="-317500">
                        <a:lnSpc>
                          <a:spcPct val="100000"/>
                        </a:lnSpc>
                        <a:spcBef>
                          <a:spcPts val="765"/>
                        </a:spcBef>
                        <a:buFont typeface="Times New Roman"/>
                        <a:buChar char="●"/>
                        <a:tabLst>
                          <a:tab pos="548640" algn="l"/>
                        </a:tabLst>
                      </a:pPr>
                      <a:endParaRPr lang="en-US" sz="1400" dirty="0">
                        <a:latin typeface="Arial MT"/>
                        <a:cs typeface="Arial MT"/>
                      </a:endParaRPr>
                    </a:p>
                  </a:txBody>
                  <a:tcPr marL="0" marR="0" marT="9715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2410" indent="0">
                        <a:lnSpc>
                          <a:spcPct val="100000"/>
                        </a:lnSpc>
                        <a:spcBef>
                          <a:spcPts val="765"/>
                        </a:spcBef>
                        <a:buFont typeface="Times New Roman"/>
                        <a:buNone/>
                        <a:tabLst>
                          <a:tab pos="549275" algn="l"/>
                        </a:tabLst>
                      </a:pPr>
                      <a:endParaRPr lang="en-US" sz="1400" dirty="0">
                        <a:latin typeface="Arial MT"/>
                        <a:cs typeface="Arial MT"/>
                      </a:endParaRPr>
                    </a:p>
                  </a:txBody>
                  <a:tcPr marL="0" marR="0" marT="9715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074" name="Picture 2" descr="Forms response chart. Question title: 5.  How do you currently manage pricing and payments?  . Number of responses: 8 responses.">
            <a:extLst>
              <a:ext uri="{FF2B5EF4-FFF2-40B4-BE49-F238E27FC236}">
                <a16:creationId xmlns:a16="http://schemas.microsoft.com/office/drawing/2014/main" id="{1CDB3DB1-5BAE-2448-2304-AC9ACA270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871478"/>
            <a:ext cx="4420428" cy="1938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7ACD66F-0C5A-D12A-FB27-2E3C424A2E09}"/>
              </a:ext>
            </a:extLst>
          </p:cNvPr>
          <p:cNvSpPr/>
          <p:nvPr/>
        </p:nvSpPr>
        <p:spPr>
          <a:xfrm>
            <a:off x="421640" y="1200150"/>
            <a:ext cx="452121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pic>
        <p:nvPicPr>
          <p:cNvPr id="3076" name="Picture 4" descr="Forms response chart. Question title: 6.  Do you find it hard to protect your art from being copied or misused?. Number of responses: 8 responses.">
            <a:extLst>
              <a:ext uri="{FF2B5EF4-FFF2-40B4-BE49-F238E27FC236}">
                <a16:creationId xmlns:a16="http://schemas.microsoft.com/office/drawing/2014/main" id="{29B5EB10-9D6E-6A77-025B-ABF86116A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443" y="871478"/>
            <a:ext cx="3956738" cy="193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CF68813-0136-2C5F-6006-3C75E2806C66}"/>
              </a:ext>
            </a:extLst>
          </p:cNvPr>
          <p:cNvSpPr/>
          <p:nvPr/>
        </p:nvSpPr>
        <p:spPr>
          <a:xfrm>
            <a:off x="4953000" y="1200150"/>
            <a:ext cx="457200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78" name="Picture 6" descr="Forms response chart. Question title: 7.  Would you be interested in a platform that promotes regional and traditional art styles?. Number of responses: 8 responses.">
            <a:extLst>
              <a:ext uri="{FF2B5EF4-FFF2-40B4-BE49-F238E27FC236}">
                <a16:creationId xmlns:a16="http://schemas.microsoft.com/office/drawing/2014/main" id="{81497FC3-0A7B-EFEF-EC90-5FE17E004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2" y="2889373"/>
            <a:ext cx="4420428" cy="1815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Forms response chart. Question title: 7.  Would you be interested in a platform that promotes regional and traditional art styles?. Number of responses: 8 responses.">
            <a:extLst>
              <a:ext uri="{FF2B5EF4-FFF2-40B4-BE49-F238E27FC236}">
                <a16:creationId xmlns:a16="http://schemas.microsoft.com/office/drawing/2014/main" id="{354F861F-99DD-BC24-8CE1-D4C977338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443" y="2895994"/>
            <a:ext cx="3956737" cy="1809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DE2F7B4-8830-AB58-F093-C2DC685DA3CC}"/>
              </a:ext>
            </a:extLst>
          </p:cNvPr>
          <p:cNvSpPr/>
          <p:nvPr/>
        </p:nvSpPr>
        <p:spPr>
          <a:xfrm>
            <a:off x="421640" y="3181350"/>
            <a:ext cx="492760" cy="1601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CD5625-7781-3016-4BEF-2406277E6F2E}"/>
              </a:ext>
            </a:extLst>
          </p:cNvPr>
          <p:cNvSpPr/>
          <p:nvPr/>
        </p:nvSpPr>
        <p:spPr>
          <a:xfrm>
            <a:off x="4953000" y="3181350"/>
            <a:ext cx="381000" cy="1601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7930451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847" y="260731"/>
            <a:ext cx="193421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0" dirty="0">
                <a:latin typeface="Trebuchet MS"/>
                <a:cs typeface="Trebuchet MS"/>
              </a:rPr>
              <a:t>Conclusion</a:t>
            </a:r>
            <a:endParaRPr sz="29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33816" y="102107"/>
            <a:ext cx="506095" cy="508000"/>
          </a:xfrm>
          <a:custGeom>
            <a:avLst/>
            <a:gdLst/>
            <a:ahLst/>
            <a:cxnLst/>
            <a:rect l="l" t="t" r="r" b="b"/>
            <a:pathLst>
              <a:path w="506095" h="508000">
                <a:moveTo>
                  <a:pt x="505968" y="0"/>
                </a:moveTo>
                <a:lnTo>
                  <a:pt x="0" y="0"/>
                </a:lnTo>
                <a:lnTo>
                  <a:pt x="0" y="507491"/>
                </a:lnTo>
                <a:lnTo>
                  <a:pt x="505968" y="507491"/>
                </a:lnTo>
                <a:lnTo>
                  <a:pt x="505968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6408" y="763523"/>
            <a:ext cx="8471535" cy="0"/>
          </a:xfrm>
          <a:custGeom>
            <a:avLst/>
            <a:gdLst/>
            <a:ahLst/>
            <a:cxnLst/>
            <a:rect l="l" t="t" r="r" b="b"/>
            <a:pathLst>
              <a:path w="8471535">
                <a:moveTo>
                  <a:pt x="0" y="0"/>
                </a:moveTo>
                <a:lnTo>
                  <a:pt x="8471154" y="0"/>
                </a:lnTo>
              </a:path>
            </a:pathLst>
          </a:custGeom>
          <a:ln w="9144">
            <a:solidFill>
              <a:srgbClr val="00492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4746" y="963295"/>
            <a:ext cx="7510780" cy="3013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9565" marR="368300" indent="-317500">
              <a:lnSpc>
                <a:spcPct val="100000"/>
              </a:lnSpc>
              <a:spcBef>
                <a:spcPts val="105"/>
              </a:spcBef>
              <a:buFont typeface="Arial MT"/>
              <a:buChar char="●"/>
              <a:tabLst>
                <a:tab pos="329565" algn="l"/>
              </a:tabLst>
            </a:pPr>
            <a:r>
              <a:rPr sz="1400" b="1" spc="-10" dirty="0">
                <a:solidFill>
                  <a:srgbClr val="00492D"/>
                </a:solidFill>
                <a:latin typeface="Arial"/>
                <a:cs typeface="Arial"/>
              </a:rPr>
              <a:t>Unique</a:t>
            </a:r>
            <a:r>
              <a:rPr sz="1400" b="1" spc="5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00492D"/>
                </a:solidFill>
                <a:latin typeface="Arial"/>
                <a:cs typeface="Arial"/>
              </a:rPr>
              <a:t>Marketplace:</a:t>
            </a:r>
            <a:r>
              <a:rPr sz="1400" b="1" spc="1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Connects</a:t>
            </a:r>
            <a:r>
              <a:rPr sz="1400" spc="2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artisans </a:t>
            </a:r>
            <a:r>
              <a:rPr sz="1400" spc="70" dirty="0">
                <a:solidFill>
                  <a:srgbClr val="00492D"/>
                </a:solidFill>
                <a:latin typeface="Arial MT"/>
                <a:cs typeface="Arial MT"/>
              </a:rPr>
              <a:t>with</a:t>
            </a:r>
            <a:r>
              <a:rPr sz="1400" spc="1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global</a:t>
            </a:r>
            <a:r>
              <a:rPr sz="1400" spc="-2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buyers</a:t>
            </a:r>
            <a:r>
              <a:rPr sz="1400" spc="2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for</a:t>
            </a:r>
            <a:r>
              <a:rPr sz="1400" spc="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authentic,</a:t>
            </a:r>
            <a:r>
              <a:rPr sz="1400" spc="1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handcrafted artifacts.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Clr>
                <a:srgbClr val="00492D"/>
              </a:buClr>
              <a:buFont typeface="Arial MT"/>
              <a:buChar char="●"/>
            </a:pPr>
            <a:endParaRPr sz="1400">
              <a:latin typeface="Arial MT"/>
              <a:cs typeface="Arial MT"/>
            </a:endParaRPr>
          </a:p>
          <a:p>
            <a:pPr marL="329565" indent="-316865">
              <a:lnSpc>
                <a:spcPct val="100000"/>
              </a:lnSpc>
              <a:spcBef>
                <a:spcPts val="5"/>
              </a:spcBef>
              <a:buFont typeface="Arial MT"/>
              <a:buChar char="●"/>
              <a:tabLst>
                <a:tab pos="329565" algn="l"/>
              </a:tabLst>
            </a:pPr>
            <a:r>
              <a:rPr sz="1400" b="1" spc="-20" dirty="0">
                <a:solidFill>
                  <a:srgbClr val="00492D"/>
                </a:solidFill>
                <a:latin typeface="Arial"/>
                <a:cs typeface="Arial"/>
              </a:rPr>
              <a:t>Empowering</a:t>
            </a:r>
            <a:r>
              <a:rPr sz="1400" b="1" spc="2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spc="-30" dirty="0">
                <a:solidFill>
                  <a:srgbClr val="00492D"/>
                </a:solidFill>
                <a:latin typeface="Arial"/>
                <a:cs typeface="Arial"/>
              </a:rPr>
              <a:t>Artisans:</a:t>
            </a:r>
            <a:r>
              <a:rPr sz="1400" b="1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00492D"/>
                </a:solidFill>
                <a:latin typeface="Arial MT"/>
                <a:cs typeface="Arial MT"/>
              </a:rPr>
              <a:t>Enhances</a:t>
            </a:r>
            <a:r>
              <a:rPr sz="1400" spc="3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digital</a:t>
            </a:r>
            <a:r>
              <a:rPr sz="1400" spc="-2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presence</a:t>
            </a:r>
            <a:r>
              <a:rPr sz="1400" spc="2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and</a:t>
            </a:r>
            <a:r>
              <a:rPr sz="1400" spc="-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ensures</a:t>
            </a:r>
            <a:r>
              <a:rPr sz="1400" spc="1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fair</a:t>
            </a:r>
            <a:r>
              <a:rPr sz="1400" spc="-1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pricing.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00492D"/>
              </a:buClr>
              <a:buFont typeface="Arial MT"/>
              <a:buChar char="●"/>
            </a:pPr>
            <a:endParaRPr sz="1400">
              <a:latin typeface="Arial MT"/>
              <a:cs typeface="Arial MT"/>
            </a:endParaRPr>
          </a:p>
          <a:p>
            <a:pPr marL="329565" indent="-316865">
              <a:lnSpc>
                <a:spcPct val="100000"/>
              </a:lnSpc>
              <a:buFont typeface="Arial MT"/>
              <a:buChar char="●"/>
              <a:tabLst>
                <a:tab pos="329565" algn="l"/>
              </a:tabLst>
            </a:pPr>
            <a:r>
              <a:rPr sz="1400" b="1" spc="-20" dirty="0">
                <a:solidFill>
                  <a:srgbClr val="00492D"/>
                </a:solidFill>
                <a:latin typeface="Arial"/>
                <a:cs typeface="Arial"/>
              </a:rPr>
              <a:t>Innovative</a:t>
            </a:r>
            <a:r>
              <a:rPr sz="1400" b="1" spc="6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spc="-35" dirty="0">
                <a:solidFill>
                  <a:srgbClr val="00492D"/>
                </a:solidFill>
                <a:latin typeface="Arial"/>
                <a:cs typeface="Arial"/>
              </a:rPr>
              <a:t>Features:</a:t>
            </a:r>
            <a:r>
              <a:rPr sz="1400" b="1" spc="4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Offers</a:t>
            </a:r>
            <a:r>
              <a:rPr sz="1400" spc="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verified</a:t>
            </a:r>
            <a:r>
              <a:rPr sz="1400" spc="4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listings,</a:t>
            </a:r>
            <a:r>
              <a:rPr sz="1400" spc="3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exclusive</a:t>
            </a:r>
            <a:r>
              <a:rPr sz="1400" spc="5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bidding,</a:t>
            </a:r>
            <a:r>
              <a:rPr sz="1400" spc="3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and</a:t>
            </a:r>
            <a:r>
              <a:rPr sz="1400" spc="2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personalized</a:t>
            </a:r>
            <a:r>
              <a:rPr sz="1400" spc="3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gifting.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00492D"/>
              </a:buClr>
              <a:buFont typeface="Arial MT"/>
              <a:buChar char="●"/>
            </a:pPr>
            <a:endParaRPr sz="1400">
              <a:latin typeface="Arial MT"/>
              <a:cs typeface="Arial MT"/>
            </a:endParaRPr>
          </a:p>
          <a:p>
            <a:pPr marL="329565" indent="-316865">
              <a:lnSpc>
                <a:spcPct val="100000"/>
              </a:lnSpc>
              <a:buFont typeface="Arial MT"/>
              <a:buChar char="●"/>
              <a:tabLst>
                <a:tab pos="329565" algn="l"/>
              </a:tabLst>
            </a:pPr>
            <a:r>
              <a:rPr sz="1400" b="1" dirty="0">
                <a:solidFill>
                  <a:srgbClr val="00492D"/>
                </a:solidFill>
                <a:latin typeface="Arial"/>
                <a:cs typeface="Arial"/>
              </a:rPr>
              <a:t>Target</a:t>
            </a:r>
            <a:r>
              <a:rPr sz="1400" b="1" spc="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spc="-40" dirty="0">
                <a:solidFill>
                  <a:srgbClr val="00492D"/>
                </a:solidFill>
                <a:latin typeface="Arial"/>
                <a:cs typeface="Arial"/>
              </a:rPr>
              <a:t>Audience:</a:t>
            </a:r>
            <a:r>
              <a:rPr sz="1400" b="1" spc="1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Caters</a:t>
            </a:r>
            <a:r>
              <a:rPr sz="1400" spc="-2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50" dirty="0">
                <a:solidFill>
                  <a:srgbClr val="00492D"/>
                </a:solidFill>
                <a:latin typeface="Arial MT"/>
                <a:cs typeface="Arial MT"/>
              </a:rPr>
              <a:t>to</a:t>
            </a:r>
            <a:r>
              <a:rPr sz="1400" spc="-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home décor</a:t>
            </a:r>
            <a:r>
              <a:rPr sz="1400" spc="-2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enthusiasts,</a:t>
            </a:r>
            <a:r>
              <a:rPr sz="1400" spc="2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collectors,</a:t>
            </a:r>
            <a:r>
              <a:rPr sz="1400" spc="-3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and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interior</a:t>
            </a:r>
            <a:r>
              <a:rPr sz="1400" spc="-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designers.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00492D"/>
              </a:buClr>
              <a:buFont typeface="Arial MT"/>
              <a:buChar char="●"/>
            </a:pPr>
            <a:endParaRPr sz="1400">
              <a:latin typeface="Arial MT"/>
              <a:cs typeface="Arial MT"/>
            </a:endParaRPr>
          </a:p>
          <a:p>
            <a:pPr marL="329565" marR="5080" indent="-317500">
              <a:lnSpc>
                <a:spcPct val="100000"/>
              </a:lnSpc>
              <a:spcBef>
                <a:spcPts val="5"/>
              </a:spcBef>
              <a:buFont typeface="Arial MT"/>
              <a:buChar char="●"/>
              <a:tabLst>
                <a:tab pos="329565" algn="l"/>
              </a:tabLst>
            </a:pPr>
            <a:r>
              <a:rPr sz="1400" b="1" spc="-20" dirty="0">
                <a:solidFill>
                  <a:srgbClr val="00492D"/>
                </a:solidFill>
                <a:latin typeface="Arial"/>
                <a:cs typeface="Arial"/>
              </a:rPr>
              <a:t>Diverse</a:t>
            </a:r>
            <a:r>
              <a:rPr sz="1400" b="1" spc="-2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spc="-30" dirty="0">
                <a:solidFill>
                  <a:srgbClr val="00492D"/>
                </a:solidFill>
                <a:latin typeface="Arial"/>
                <a:cs typeface="Arial"/>
              </a:rPr>
              <a:t>Revenue</a:t>
            </a:r>
            <a:r>
              <a:rPr sz="1400" b="1" spc="-1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spc="-30" dirty="0">
                <a:solidFill>
                  <a:srgbClr val="00492D"/>
                </a:solidFill>
                <a:latin typeface="Arial"/>
                <a:cs typeface="Arial"/>
              </a:rPr>
              <a:t>Streams:</a:t>
            </a:r>
            <a:r>
              <a:rPr sz="1400" b="1" spc="-3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Generates</a:t>
            </a:r>
            <a:r>
              <a:rPr sz="1400" spc="-4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income</a:t>
            </a:r>
            <a:r>
              <a:rPr sz="1400" spc="-3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via</a:t>
            </a:r>
            <a:r>
              <a:rPr sz="1400" spc="-4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commissions,</a:t>
            </a:r>
            <a:r>
              <a:rPr sz="1400" spc="-3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subscriptions,</a:t>
            </a:r>
            <a:r>
              <a:rPr sz="1400" spc="-3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and</a:t>
            </a:r>
            <a:r>
              <a:rPr sz="1400" spc="-4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bidding </a:t>
            </a:r>
            <a:r>
              <a:rPr sz="1400" spc="-20" dirty="0">
                <a:solidFill>
                  <a:srgbClr val="00492D"/>
                </a:solidFill>
                <a:latin typeface="Arial MT"/>
                <a:cs typeface="Arial MT"/>
              </a:rPr>
              <a:t>fees.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Clr>
                <a:srgbClr val="00492D"/>
              </a:buClr>
              <a:buFont typeface="Arial MT"/>
              <a:buChar char="●"/>
            </a:pPr>
            <a:endParaRPr sz="1400">
              <a:latin typeface="Arial MT"/>
              <a:cs typeface="Arial MT"/>
            </a:endParaRPr>
          </a:p>
          <a:p>
            <a:pPr marL="329565" indent="-316865">
              <a:lnSpc>
                <a:spcPct val="100000"/>
              </a:lnSpc>
              <a:spcBef>
                <a:spcPts val="5"/>
              </a:spcBef>
              <a:buFont typeface="Arial MT"/>
              <a:buChar char="●"/>
              <a:tabLst>
                <a:tab pos="329565" algn="l"/>
              </a:tabLst>
            </a:pPr>
            <a:r>
              <a:rPr sz="1400" b="1" spc="-10" dirty="0">
                <a:solidFill>
                  <a:srgbClr val="00492D"/>
                </a:solidFill>
                <a:latin typeface="Arial"/>
                <a:cs typeface="Arial"/>
              </a:rPr>
              <a:t>Strategic</a:t>
            </a:r>
            <a:r>
              <a:rPr sz="1400" b="1" spc="45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b="1" spc="-40" dirty="0">
                <a:solidFill>
                  <a:srgbClr val="00492D"/>
                </a:solidFill>
                <a:latin typeface="Arial"/>
                <a:cs typeface="Arial"/>
              </a:rPr>
              <a:t>Roadmap:</a:t>
            </a:r>
            <a:r>
              <a:rPr sz="1400" b="1" spc="30" dirty="0">
                <a:solidFill>
                  <a:srgbClr val="00492D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Combines</a:t>
            </a:r>
            <a:r>
              <a:rPr sz="1400" spc="3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robust</a:t>
            </a:r>
            <a:r>
              <a:rPr sz="1400" spc="2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marketing,</a:t>
            </a:r>
            <a:r>
              <a:rPr sz="1400" spc="2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agile</a:t>
            </a:r>
            <a:r>
              <a:rPr sz="1400" spc="3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operations,</a:t>
            </a:r>
            <a:r>
              <a:rPr sz="1400" spc="20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and</a:t>
            </a:r>
            <a:r>
              <a:rPr sz="1400" spc="3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risk</a:t>
            </a:r>
            <a:r>
              <a:rPr sz="1400" spc="3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mitigation</a:t>
            </a:r>
            <a:r>
              <a:rPr sz="1400" spc="15" dirty="0">
                <a:solidFill>
                  <a:srgbClr val="00492D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00492D"/>
                </a:solidFill>
                <a:latin typeface="Arial MT"/>
                <a:cs typeface="Arial MT"/>
              </a:rPr>
              <a:t>for</a:t>
            </a:r>
            <a:endParaRPr sz="1400">
              <a:latin typeface="Arial MT"/>
              <a:cs typeface="Arial MT"/>
            </a:endParaRPr>
          </a:p>
          <a:p>
            <a:pPr marL="329565">
              <a:lnSpc>
                <a:spcPct val="100000"/>
              </a:lnSpc>
            </a:pPr>
            <a:r>
              <a:rPr sz="1400" dirty="0">
                <a:solidFill>
                  <a:srgbClr val="00492D"/>
                </a:solidFill>
                <a:latin typeface="Arial MT"/>
                <a:cs typeface="Arial MT"/>
              </a:rPr>
              <a:t>scalable</a:t>
            </a:r>
            <a:r>
              <a:rPr sz="1400" spc="-10" dirty="0">
                <a:solidFill>
                  <a:srgbClr val="00492D"/>
                </a:solidFill>
                <a:latin typeface="Arial MT"/>
                <a:cs typeface="Arial MT"/>
              </a:rPr>
              <a:t> growth.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953" y="2057857"/>
            <a:ext cx="22669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" dirty="0">
                <a:latin typeface="Nirmala UI"/>
                <a:cs typeface="Nirmala UI"/>
              </a:rPr>
              <a:t>धन्यवाद</a:t>
            </a:r>
            <a:endParaRPr sz="4800">
              <a:latin typeface="Nirmala UI"/>
              <a:cs typeface="Nirmala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583168" y="3727703"/>
            <a:ext cx="325120" cy="280670"/>
          </a:xfrm>
          <a:custGeom>
            <a:avLst/>
            <a:gdLst/>
            <a:ahLst/>
            <a:cxnLst/>
            <a:rect l="l" t="t" r="r" b="b"/>
            <a:pathLst>
              <a:path w="325120" h="280670">
                <a:moveTo>
                  <a:pt x="162305" y="0"/>
                </a:moveTo>
                <a:lnTo>
                  <a:pt x="0" y="280416"/>
                </a:lnTo>
                <a:lnTo>
                  <a:pt x="324611" y="280416"/>
                </a:lnTo>
                <a:lnTo>
                  <a:pt x="162305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583168" y="4122420"/>
            <a:ext cx="325120" cy="280670"/>
          </a:xfrm>
          <a:custGeom>
            <a:avLst/>
            <a:gdLst/>
            <a:ahLst/>
            <a:cxnLst/>
            <a:rect l="l" t="t" r="r" b="b"/>
            <a:pathLst>
              <a:path w="325120" h="280670">
                <a:moveTo>
                  <a:pt x="162305" y="0"/>
                </a:moveTo>
                <a:lnTo>
                  <a:pt x="0" y="280415"/>
                </a:lnTo>
                <a:lnTo>
                  <a:pt x="324611" y="280415"/>
                </a:lnTo>
                <a:lnTo>
                  <a:pt x="162305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583168" y="4518659"/>
            <a:ext cx="325120" cy="280670"/>
          </a:xfrm>
          <a:custGeom>
            <a:avLst/>
            <a:gdLst/>
            <a:ahLst/>
            <a:cxnLst/>
            <a:rect l="l" t="t" r="r" b="b"/>
            <a:pathLst>
              <a:path w="325120" h="280670">
                <a:moveTo>
                  <a:pt x="162305" y="0"/>
                </a:moveTo>
                <a:lnTo>
                  <a:pt x="0" y="280415"/>
                </a:lnTo>
                <a:lnTo>
                  <a:pt x="324611" y="280415"/>
                </a:lnTo>
                <a:lnTo>
                  <a:pt x="162305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433816" y="102107"/>
            <a:ext cx="506095" cy="508000"/>
          </a:xfrm>
          <a:custGeom>
            <a:avLst/>
            <a:gdLst/>
            <a:ahLst/>
            <a:cxnLst/>
            <a:rect l="l" t="t" r="r" b="b"/>
            <a:pathLst>
              <a:path w="506095" h="508000">
                <a:moveTo>
                  <a:pt x="505968" y="0"/>
                </a:moveTo>
                <a:lnTo>
                  <a:pt x="0" y="0"/>
                </a:lnTo>
                <a:lnTo>
                  <a:pt x="0" y="507491"/>
                </a:lnTo>
                <a:lnTo>
                  <a:pt x="505968" y="507491"/>
                </a:lnTo>
                <a:lnTo>
                  <a:pt x="505968" y="0"/>
                </a:lnTo>
                <a:close/>
              </a:path>
            </a:pathLst>
          </a:custGeom>
          <a:solidFill>
            <a:srgbClr val="25A9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8411" y="4168140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8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8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6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1000" y="4168140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7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7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5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7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3587" y="4168140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8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8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6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46176" y="4168140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7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7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5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7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8763" y="4168140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8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8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5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8411" y="4283964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8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8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6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1000" y="4283964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7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7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5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7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13587" y="4283964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8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8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6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6176" y="4283964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7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7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5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7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78763" y="4283964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8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8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5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48411" y="4396740"/>
            <a:ext cx="44450" cy="47625"/>
          </a:xfrm>
          <a:custGeom>
            <a:avLst/>
            <a:gdLst/>
            <a:ahLst/>
            <a:cxnLst/>
            <a:rect l="l" t="t" r="r" b="b"/>
            <a:pathLst>
              <a:path w="44450" h="47625">
                <a:moveTo>
                  <a:pt x="22098" y="0"/>
                </a:moveTo>
                <a:lnTo>
                  <a:pt x="13496" y="1856"/>
                </a:lnTo>
                <a:lnTo>
                  <a:pt x="6472" y="6919"/>
                </a:lnTo>
                <a:lnTo>
                  <a:pt x="1736" y="14428"/>
                </a:lnTo>
                <a:lnTo>
                  <a:pt x="0" y="23622"/>
                </a:lnTo>
                <a:lnTo>
                  <a:pt x="1736" y="32815"/>
                </a:lnTo>
                <a:lnTo>
                  <a:pt x="6472" y="40324"/>
                </a:lnTo>
                <a:lnTo>
                  <a:pt x="13496" y="45387"/>
                </a:lnTo>
                <a:lnTo>
                  <a:pt x="22098" y="47244"/>
                </a:lnTo>
                <a:lnTo>
                  <a:pt x="30699" y="45387"/>
                </a:lnTo>
                <a:lnTo>
                  <a:pt x="37723" y="40324"/>
                </a:lnTo>
                <a:lnTo>
                  <a:pt x="42459" y="32815"/>
                </a:lnTo>
                <a:lnTo>
                  <a:pt x="44196" y="23622"/>
                </a:lnTo>
                <a:lnTo>
                  <a:pt x="42459" y="14428"/>
                </a:lnTo>
                <a:lnTo>
                  <a:pt x="37723" y="6919"/>
                </a:lnTo>
                <a:lnTo>
                  <a:pt x="30699" y="185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81000" y="4396740"/>
            <a:ext cx="44450" cy="47625"/>
          </a:xfrm>
          <a:custGeom>
            <a:avLst/>
            <a:gdLst/>
            <a:ahLst/>
            <a:cxnLst/>
            <a:rect l="l" t="t" r="r" b="b"/>
            <a:pathLst>
              <a:path w="44450" h="47625">
                <a:moveTo>
                  <a:pt x="22097" y="0"/>
                </a:moveTo>
                <a:lnTo>
                  <a:pt x="13496" y="1856"/>
                </a:lnTo>
                <a:lnTo>
                  <a:pt x="6472" y="6919"/>
                </a:lnTo>
                <a:lnTo>
                  <a:pt x="1736" y="14428"/>
                </a:lnTo>
                <a:lnTo>
                  <a:pt x="0" y="23622"/>
                </a:lnTo>
                <a:lnTo>
                  <a:pt x="1736" y="32815"/>
                </a:lnTo>
                <a:lnTo>
                  <a:pt x="6472" y="40324"/>
                </a:lnTo>
                <a:lnTo>
                  <a:pt x="13496" y="45387"/>
                </a:lnTo>
                <a:lnTo>
                  <a:pt x="22097" y="47244"/>
                </a:lnTo>
                <a:lnTo>
                  <a:pt x="30699" y="45387"/>
                </a:lnTo>
                <a:lnTo>
                  <a:pt x="37723" y="40324"/>
                </a:lnTo>
                <a:lnTo>
                  <a:pt x="42459" y="32815"/>
                </a:lnTo>
                <a:lnTo>
                  <a:pt x="44195" y="23622"/>
                </a:lnTo>
                <a:lnTo>
                  <a:pt x="42459" y="14428"/>
                </a:lnTo>
                <a:lnTo>
                  <a:pt x="37723" y="6919"/>
                </a:lnTo>
                <a:lnTo>
                  <a:pt x="30699" y="1856"/>
                </a:lnTo>
                <a:lnTo>
                  <a:pt x="22097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13587" y="4396740"/>
            <a:ext cx="44450" cy="47625"/>
          </a:xfrm>
          <a:custGeom>
            <a:avLst/>
            <a:gdLst/>
            <a:ahLst/>
            <a:cxnLst/>
            <a:rect l="l" t="t" r="r" b="b"/>
            <a:pathLst>
              <a:path w="44450" h="47625">
                <a:moveTo>
                  <a:pt x="22098" y="0"/>
                </a:moveTo>
                <a:lnTo>
                  <a:pt x="13496" y="1856"/>
                </a:lnTo>
                <a:lnTo>
                  <a:pt x="6472" y="6919"/>
                </a:lnTo>
                <a:lnTo>
                  <a:pt x="1736" y="14428"/>
                </a:lnTo>
                <a:lnTo>
                  <a:pt x="0" y="23622"/>
                </a:lnTo>
                <a:lnTo>
                  <a:pt x="1736" y="32815"/>
                </a:lnTo>
                <a:lnTo>
                  <a:pt x="6472" y="40324"/>
                </a:lnTo>
                <a:lnTo>
                  <a:pt x="13496" y="45387"/>
                </a:lnTo>
                <a:lnTo>
                  <a:pt x="22098" y="47244"/>
                </a:lnTo>
                <a:lnTo>
                  <a:pt x="30699" y="45387"/>
                </a:lnTo>
                <a:lnTo>
                  <a:pt x="37723" y="40324"/>
                </a:lnTo>
                <a:lnTo>
                  <a:pt x="42459" y="32815"/>
                </a:lnTo>
                <a:lnTo>
                  <a:pt x="44196" y="23622"/>
                </a:lnTo>
                <a:lnTo>
                  <a:pt x="42459" y="14428"/>
                </a:lnTo>
                <a:lnTo>
                  <a:pt x="37723" y="6919"/>
                </a:lnTo>
                <a:lnTo>
                  <a:pt x="30699" y="185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46176" y="4396740"/>
            <a:ext cx="44450" cy="47625"/>
          </a:xfrm>
          <a:custGeom>
            <a:avLst/>
            <a:gdLst/>
            <a:ahLst/>
            <a:cxnLst/>
            <a:rect l="l" t="t" r="r" b="b"/>
            <a:pathLst>
              <a:path w="44450" h="47625">
                <a:moveTo>
                  <a:pt x="22097" y="0"/>
                </a:moveTo>
                <a:lnTo>
                  <a:pt x="13496" y="1856"/>
                </a:lnTo>
                <a:lnTo>
                  <a:pt x="6472" y="6919"/>
                </a:lnTo>
                <a:lnTo>
                  <a:pt x="1736" y="14428"/>
                </a:lnTo>
                <a:lnTo>
                  <a:pt x="0" y="23622"/>
                </a:lnTo>
                <a:lnTo>
                  <a:pt x="1736" y="32815"/>
                </a:lnTo>
                <a:lnTo>
                  <a:pt x="6472" y="40324"/>
                </a:lnTo>
                <a:lnTo>
                  <a:pt x="13496" y="45387"/>
                </a:lnTo>
                <a:lnTo>
                  <a:pt x="22097" y="47244"/>
                </a:lnTo>
                <a:lnTo>
                  <a:pt x="30699" y="45387"/>
                </a:lnTo>
                <a:lnTo>
                  <a:pt x="37723" y="40324"/>
                </a:lnTo>
                <a:lnTo>
                  <a:pt x="42459" y="32815"/>
                </a:lnTo>
                <a:lnTo>
                  <a:pt x="44195" y="23622"/>
                </a:lnTo>
                <a:lnTo>
                  <a:pt x="42459" y="14428"/>
                </a:lnTo>
                <a:lnTo>
                  <a:pt x="37723" y="6919"/>
                </a:lnTo>
                <a:lnTo>
                  <a:pt x="30699" y="1856"/>
                </a:lnTo>
                <a:lnTo>
                  <a:pt x="22097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78763" y="4396740"/>
            <a:ext cx="44450" cy="47625"/>
          </a:xfrm>
          <a:custGeom>
            <a:avLst/>
            <a:gdLst/>
            <a:ahLst/>
            <a:cxnLst/>
            <a:rect l="l" t="t" r="r" b="b"/>
            <a:pathLst>
              <a:path w="44450" h="47625">
                <a:moveTo>
                  <a:pt x="22098" y="0"/>
                </a:moveTo>
                <a:lnTo>
                  <a:pt x="13496" y="1856"/>
                </a:lnTo>
                <a:lnTo>
                  <a:pt x="6472" y="6919"/>
                </a:lnTo>
                <a:lnTo>
                  <a:pt x="1736" y="14428"/>
                </a:lnTo>
                <a:lnTo>
                  <a:pt x="0" y="23622"/>
                </a:lnTo>
                <a:lnTo>
                  <a:pt x="1736" y="32815"/>
                </a:lnTo>
                <a:lnTo>
                  <a:pt x="6472" y="40324"/>
                </a:lnTo>
                <a:lnTo>
                  <a:pt x="13496" y="45387"/>
                </a:lnTo>
                <a:lnTo>
                  <a:pt x="22098" y="47244"/>
                </a:lnTo>
                <a:lnTo>
                  <a:pt x="30699" y="45387"/>
                </a:lnTo>
                <a:lnTo>
                  <a:pt x="37723" y="40324"/>
                </a:lnTo>
                <a:lnTo>
                  <a:pt x="42459" y="32815"/>
                </a:lnTo>
                <a:lnTo>
                  <a:pt x="44195" y="23622"/>
                </a:lnTo>
                <a:lnTo>
                  <a:pt x="42459" y="14428"/>
                </a:lnTo>
                <a:lnTo>
                  <a:pt x="37723" y="6919"/>
                </a:lnTo>
                <a:lnTo>
                  <a:pt x="30699" y="185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48411" y="4514088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8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8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6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1000" y="4514088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7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7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5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7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13587" y="4514088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8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8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6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46176" y="4514088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7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7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5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7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78763" y="4514088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8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60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8" y="45720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5" y="22860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48411" y="4629911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8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59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8" y="45719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6" y="22859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81000" y="4629911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7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59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7" y="45719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5" y="22859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7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13587" y="4629911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8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59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8" y="45719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6" y="22859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46176" y="4629911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7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59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7" y="45719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5" y="22859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7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78763" y="4629911"/>
            <a:ext cx="44450" cy="45720"/>
          </a:xfrm>
          <a:custGeom>
            <a:avLst/>
            <a:gdLst/>
            <a:ahLst/>
            <a:cxnLst/>
            <a:rect l="l" t="t" r="r" b="b"/>
            <a:pathLst>
              <a:path w="44450" h="45720">
                <a:moveTo>
                  <a:pt x="22098" y="0"/>
                </a:moveTo>
                <a:lnTo>
                  <a:pt x="13496" y="1796"/>
                </a:lnTo>
                <a:lnTo>
                  <a:pt x="6472" y="6696"/>
                </a:lnTo>
                <a:lnTo>
                  <a:pt x="1736" y="13962"/>
                </a:lnTo>
                <a:lnTo>
                  <a:pt x="0" y="22859"/>
                </a:lnTo>
                <a:lnTo>
                  <a:pt x="1736" y="31757"/>
                </a:lnTo>
                <a:lnTo>
                  <a:pt x="6472" y="39023"/>
                </a:lnTo>
                <a:lnTo>
                  <a:pt x="13496" y="43923"/>
                </a:lnTo>
                <a:lnTo>
                  <a:pt x="22098" y="45719"/>
                </a:lnTo>
                <a:lnTo>
                  <a:pt x="30699" y="43923"/>
                </a:lnTo>
                <a:lnTo>
                  <a:pt x="37723" y="39023"/>
                </a:lnTo>
                <a:lnTo>
                  <a:pt x="42459" y="31757"/>
                </a:lnTo>
                <a:lnTo>
                  <a:pt x="44195" y="22859"/>
                </a:lnTo>
                <a:lnTo>
                  <a:pt x="42459" y="13962"/>
                </a:lnTo>
                <a:lnTo>
                  <a:pt x="37723" y="6696"/>
                </a:lnTo>
                <a:lnTo>
                  <a:pt x="30699" y="1796"/>
                </a:lnTo>
                <a:lnTo>
                  <a:pt x="22098" y="0"/>
                </a:lnTo>
                <a:close/>
              </a:path>
            </a:pathLst>
          </a:custGeom>
          <a:solidFill>
            <a:srgbClr val="00492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5A96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</TotalTime>
  <Words>1574</Words>
  <Application>Microsoft Office PowerPoint</Application>
  <PresentationFormat>On-screen Show (16:9)</PresentationFormat>
  <Paragraphs>223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Arial MT</vt:lpstr>
      <vt:lpstr>Calibri</vt:lpstr>
      <vt:lpstr>Nirmala UI</vt:lpstr>
      <vt:lpstr>Tahoma</vt:lpstr>
      <vt:lpstr>Times New Roman</vt:lpstr>
      <vt:lpstr>Trebuchet MS</vt:lpstr>
      <vt:lpstr>Office Theme</vt:lpstr>
      <vt:lpstr>कलाकृति</vt:lpstr>
      <vt:lpstr>Executive Summary</vt:lpstr>
      <vt:lpstr>Problem Statement</vt:lpstr>
      <vt:lpstr>Business Idea and Solution</vt:lpstr>
      <vt:lpstr>Business Idea and Solution</vt:lpstr>
      <vt:lpstr>Market Research and Analysis</vt:lpstr>
      <vt:lpstr>Market Research and Analysis</vt:lpstr>
      <vt:lpstr>Market Research and Analysis</vt:lpstr>
      <vt:lpstr>Business Model</vt:lpstr>
      <vt:lpstr>Business Model</vt:lpstr>
      <vt:lpstr>Marketing and Sales Strategy</vt:lpstr>
      <vt:lpstr>Marketing and Sales Strategy</vt:lpstr>
      <vt:lpstr>Operation Plan</vt:lpstr>
      <vt:lpstr>Operation Plan</vt:lpstr>
      <vt:lpstr>Key Business, Financial &amp; Market Risks</vt:lpstr>
      <vt:lpstr>Financial Plan</vt:lpstr>
      <vt:lpstr>Survey tailored to gather insights</vt:lpstr>
      <vt:lpstr>Survey tailored to gather insights</vt:lpstr>
      <vt:lpstr>Conclusion</vt:lpstr>
      <vt:lpstr>धन्यवाद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कलाकृति</dc:title>
  <dc:creator>Parth Rana</dc:creator>
  <cp:lastModifiedBy>Hiren Darji</cp:lastModifiedBy>
  <cp:revision>7</cp:revision>
  <dcterms:created xsi:type="dcterms:W3CDTF">2025-04-05T15:16:25Z</dcterms:created>
  <dcterms:modified xsi:type="dcterms:W3CDTF">2026-01-16T09:38:33Z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2025-04-05T00:00:00Z</vt:filetime>
  </property>
  <property fmtid="{D5CDD505-2E9C-101B-9397-08002B2CF9AE}" pid="5" name="Producer">
    <vt:lpwstr>Microsoft® PowerPoint® 2016</vt:lpwstr>
  </property>
</Properties>
</file>